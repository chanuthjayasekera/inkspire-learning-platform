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2"/>
  </p:notesMasterIdLst>
  <p:handoutMasterIdLst>
    <p:handoutMasterId r:id="rId63"/>
  </p:handoutMasterIdLst>
  <p:sldIdLst>
    <p:sldId id="258" r:id="rId2"/>
    <p:sldId id="629" r:id="rId3"/>
    <p:sldId id="261" r:id="rId4"/>
    <p:sldId id="444" r:id="rId5"/>
    <p:sldId id="427" r:id="rId6"/>
    <p:sldId id="456" r:id="rId7"/>
    <p:sldId id="445" r:id="rId8"/>
    <p:sldId id="426" r:id="rId9"/>
    <p:sldId id="446" r:id="rId10"/>
    <p:sldId id="447" r:id="rId11"/>
    <p:sldId id="448" r:id="rId12"/>
    <p:sldId id="449" r:id="rId13"/>
    <p:sldId id="450" r:id="rId14"/>
    <p:sldId id="414" r:id="rId15"/>
    <p:sldId id="256" r:id="rId16"/>
    <p:sldId id="257" r:id="rId17"/>
    <p:sldId id="650" r:id="rId18"/>
    <p:sldId id="655" r:id="rId19"/>
    <p:sldId id="640" r:id="rId20"/>
    <p:sldId id="641" r:id="rId21"/>
    <p:sldId id="642" r:id="rId22"/>
    <p:sldId id="643" r:id="rId23"/>
    <p:sldId id="418" r:id="rId24"/>
    <p:sldId id="518" r:id="rId25"/>
    <p:sldId id="420" r:id="rId26"/>
    <p:sldId id="458" r:id="rId27"/>
    <p:sldId id="451" r:id="rId28"/>
    <p:sldId id="619" r:id="rId29"/>
    <p:sldId id="645" r:id="rId30"/>
    <p:sldId id="630" r:id="rId31"/>
    <p:sldId id="419" r:id="rId32"/>
    <p:sldId id="452" r:id="rId33"/>
    <p:sldId id="624" r:id="rId34"/>
    <p:sldId id="625" r:id="rId35"/>
    <p:sldId id="422" r:id="rId36"/>
    <p:sldId id="635" r:id="rId37"/>
    <p:sldId id="636" r:id="rId38"/>
    <p:sldId id="644" r:id="rId39"/>
    <p:sldId id="632" r:id="rId40"/>
    <p:sldId id="633" r:id="rId41"/>
    <p:sldId id="634" r:id="rId42"/>
    <p:sldId id="637" r:id="rId43"/>
    <p:sldId id="646" r:id="rId44"/>
    <p:sldId id="648" r:id="rId45"/>
    <p:sldId id="593" r:id="rId46"/>
    <p:sldId id="594" r:id="rId47"/>
    <p:sldId id="595" r:id="rId48"/>
    <p:sldId id="647" r:id="rId49"/>
    <p:sldId id="395" r:id="rId50"/>
    <p:sldId id="572" r:id="rId51"/>
    <p:sldId id="570" r:id="rId52"/>
    <p:sldId id="638" r:id="rId53"/>
    <p:sldId id="571" r:id="rId54"/>
    <p:sldId id="652" r:id="rId55"/>
    <p:sldId id="653" r:id="rId56"/>
    <p:sldId id="654" r:id="rId57"/>
    <p:sldId id="639" r:id="rId58"/>
    <p:sldId id="660" r:id="rId59"/>
    <p:sldId id="577" r:id="rId60"/>
    <p:sldId id="364" r:id="rId61"/>
  </p:sldIdLst>
  <p:sldSz cx="9144000" cy="6858000" type="screen4x3"/>
  <p:notesSz cx="6950075" cy="9236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09">
          <p15:clr>
            <a:srgbClr val="A4A3A4"/>
          </p15:clr>
        </p15:guide>
        <p15:guide id="2" pos="218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66CC"/>
    <a:srgbClr val="65B0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15621" autoAdjust="0"/>
    <p:restoredTop sz="94676" autoAdjust="0"/>
  </p:normalViewPr>
  <p:slideViewPr>
    <p:cSldViewPr>
      <p:cViewPr varScale="1">
        <p:scale>
          <a:sx n="79" d="100"/>
          <a:sy n="79" d="100"/>
        </p:scale>
        <p:origin x="989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70" d="100"/>
          <a:sy n="70" d="100"/>
        </p:scale>
        <p:origin x="-3294" y="-90"/>
      </p:cViewPr>
      <p:guideLst>
        <p:guide orient="horz" pos="2909"/>
        <p:guide pos="218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699" cy="46180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36768" y="0"/>
            <a:ext cx="3011699" cy="46180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702F68-D149-4F65-8008-1E3D3CADDDF0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72668"/>
            <a:ext cx="3011699" cy="46180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36768" y="8772668"/>
            <a:ext cx="3011699" cy="46180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E4877E-8492-4EA7-B53E-69F6E2E9C3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5972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699" cy="46180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6768" y="0"/>
            <a:ext cx="3011699" cy="46180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5FCC03-2DBF-4702-A046-10B0FA232255}" type="datetimeFigureOut">
              <a:rPr lang="en-IN" smtClean="0"/>
              <a:t>23-01-2026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6813" y="692150"/>
            <a:ext cx="4616450" cy="34639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008" y="4387136"/>
            <a:ext cx="5560060" cy="415623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668"/>
            <a:ext cx="3011699" cy="46180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6768" y="8772668"/>
            <a:ext cx="3011699" cy="46180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91AA17-A72A-4122-BB42-778D673C1D3E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543689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65225" y="690563"/>
            <a:ext cx="4619625" cy="34655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BB0FA-7CB0-40FF-91A3-78B94967A054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62560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65225" y="690563"/>
            <a:ext cx="4619625" cy="34655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BB0FA-7CB0-40FF-91A3-78B94967A054}" type="slidenum">
              <a:rPr lang="en-IN" smtClean="0"/>
              <a:t>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243785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E59E4C-3333-4B79-A20C-14806B2CA16C}" type="slidenum">
              <a:rPr lang="en-IN" smtClean="0"/>
              <a:t>60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692070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E3688-C9F5-4C68-A203-2750C9A1EB57}" type="datetime1">
              <a:rPr lang="en-IN" smtClean="0"/>
              <a:t>23-01-2026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45D70-95D8-4D8C-9C53-304491C713C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8964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6783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71254-DAC8-4DD2-A0B4-A5FE880CCE7A}" type="datetime1">
              <a:rPr lang="en-IN" smtClean="0"/>
              <a:t>23-01-2026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45D70-95D8-4D8C-9C53-304491C713C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99103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6591D-7820-4BC1-9AED-F2087DA1806B}" type="datetime1">
              <a:rPr lang="en-IN" smtClean="0"/>
              <a:t>23-01-2026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45D70-95D8-4D8C-9C53-304491C713C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923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511F2-022A-417E-8E7F-EF0C91B2F296}" type="datetime1">
              <a:rPr lang="en-IN" smtClean="0"/>
              <a:t>23-01-2026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45D70-95D8-4D8C-9C53-304491C713C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8006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AF0E0-C8FE-4454-B4DE-05D9F0D781E3}" type="datetime1">
              <a:rPr lang="en-IN" smtClean="0"/>
              <a:t>23-01-2026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45D70-95D8-4D8C-9C53-304491C713C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2335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D701E-02F8-4F72-91BD-299712D32D83}" type="datetime1">
              <a:rPr lang="en-IN" smtClean="0"/>
              <a:t>23-01-2026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45D70-95D8-4D8C-9C53-304491C713C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86071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0C059-39EE-4831-BFB6-47179EF9B32E}" type="datetime1">
              <a:rPr lang="en-IN" smtClean="0"/>
              <a:t>23-01-2026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45D70-95D8-4D8C-9C53-304491C713C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09696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ED40A-A3B0-4A9C-ABAA-01FE20F022B4}" type="datetime1">
              <a:rPr lang="en-IN" smtClean="0"/>
              <a:t>23-01-2026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45D70-95D8-4D8C-9C53-304491C713C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6674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752BA-2874-4B58-B4CC-27CB9400B81A}" type="datetime1">
              <a:rPr lang="en-IN" smtClean="0"/>
              <a:t>23-01-2026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45D70-95D8-4D8C-9C53-304491C713C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53424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EB8C6-D231-4D17-9134-137772C9A816}" type="datetime1">
              <a:rPr lang="en-IN" smtClean="0"/>
              <a:t>23-01-2026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45D70-95D8-4D8C-9C53-304491C713C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41966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91982-5F13-4F79-A4C2-E22A295D2288}" type="datetime1">
              <a:rPr lang="en-IN" smtClean="0"/>
              <a:t>23-01-2026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45D70-95D8-4D8C-9C53-304491C713C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64308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C86E2F-AD12-4261-8C44-124320BFF535}" type="datetime1">
              <a:rPr lang="en-IN" smtClean="0"/>
              <a:t>23-01-2026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745D70-95D8-4D8C-9C53-304491C713C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02667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jpeg"/><Relationship Id="rId7" Type="http://schemas.openxmlformats.org/officeDocument/2006/relationships/image" Target="../media/image9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://us.hudson.com/legal/blog/postid/513/predictive-analytics-artificial-intelligence-science-fiction-e-discovery-truth" TargetMode="External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shorts/tpOg87AQvbo" TargetMode="External"/><Relationship Id="rId2" Type="http://schemas.openxmlformats.org/officeDocument/2006/relationships/hyperlink" Target="https://www.youtube.com/watch?v=chzq2E75M84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://us.hudson.com/legal/blog/postid/513/predictive-analytics-artificial-intelligence-science-fiction-e-discovery-truth" TargetMode="External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://us.hudson.com/legal/blog/postid/513/predictive-analytics-artificial-intelligence-science-fiction-e-discovery-truth" TargetMode="External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V1eYniJ0Rnk" TargetMode="Externa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3wVpVH0Wa6E" TargetMode="External"/><Relationship Id="rId2" Type="http://schemas.openxmlformats.org/officeDocument/2006/relationships/hyperlink" Target="https://www.youtube.com/watch?v=G06dEcZ-QTg&amp;t=118s" TargetMode="Externa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://us.hudson.com/legal/blog/postid/513/predictive-analytics-artificial-intelligence-science-fiction-e-discovery-truth" TargetMode="External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echradar.com/pro/almost-all-genai-pilots-companies-deploy-are-failing-are-they-really-worth-the-hype" TargetMode="Externa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uters.com/article/world/insight-amazon-scraps-secret-ai-recruiting-tool-that-showed-bias-against-women-idUSKCN1MK0AG/" TargetMode="External"/><Relationship Id="rId2" Type="http://schemas.openxmlformats.org/officeDocument/2006/relationships/hyperlink" Target="https://www.forbes.com/sites/mzhang/2015/07/01/google-photos-tags-two-african-americans-as-gorillas-through-facial-recognition-software/" TargetMode="Externa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heguardian.com/technology/2025/nov/11/chatgpt-violated-copyright-laws-german-court-rules" TargetMode="External"/><Relationship Id="rId2" Type="http://schemas.openxmlformats.org/officeDocument/2006/relationships/hyperlink" Target="https://www.bbc.com/news/technology-67133157" TargetMode="Externa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heguardian.com/world/2024/apr/03/israel-gaza-ai-database-hamas-airstrikes" TargetMode="External"/><Relationship Id="rId2" Type="http://schemas.openxmlformats.org/officeDocument/2006/relationships/hyperlink" Target="https://www.bbc.com/news/articles/cly930y90lro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researchgate.net/figure/Example-of-a-common-adversarial-attack-on-image-classifiers-The-adversarial-perturbation_fig2_336809813" TargetMode="External"/><Relationship Id="rId5" Type="http://schemas.openxmlformats.org/officeDocument/2006/relationships/hyperlink" Target="https://www.bbc.com/news/world-asia-india-68918330" TargetMode="External"/><Relationship Id="rId4" Type="http://schemas.openxmlformats.org/officeDocument/2006/relationships/hyperlink" Target="https://www.reuters.com/sustainability/amazon-lay-off-about-14000-roles-2025-10-28/?utm_source=chatgpt.com" TargetMode="Externa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Model_collapse?utm_source=chatgpt.com" TargetMode="External"/><Relationship Id="rId2" Type="http://schemas.openxmlformats.org/officeDocument/2006/relationships/hyperlink" Target="https://energy.ec.europa.eu/news/focus-data-centres-energy-hungry-challenge-2025-11-17_en?utm_source=chatgpt.com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outube.com/watch?v=R8Up9Ph_a0Y" TargetMode="Externa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tatlearning.com/" TargetMode="External"/><Relationship Id="rId7" Type="http://schemas.openxmlformats.org/officeDocument/2006/relationships/hyperlink" Target="https://d2l.ai/" TargetMode="External"/><Relationship Id="rId2" Type="http://schemas.openxmlformats.org/officeDocument/2006/relationships/hyperlink" Target="https://hastie.su.domains/ISLR2/ISLRv2_website.pdf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janishar/mit-deep-learning-book-pdf/blob/master/complete-book-bookmarked-pdf/deeplearningbook.pdf" TargetMode="External"/><Relationship Id="rId5" Type="http://schemas.openxmlformats.org/officeDocument/2006/relationships/hyperlink" Target="https://www.deeplearningbook.org/" TargetMode="External"/><Relationship Id="rId4" Type="http://schemas.openxmlformats.org/officeDocument/2006/relationships/hyperlink" Target="http://powerunit-ju.com/wp-content/uploads/2021/04/Aurelien-Geron-Hands-On-Machine-Learning-with-Scikit-Learn-Keras-and-Tensorflow_-Concepts-Tools-and-Techniques-to-Build-Intelligent-Systems-OReilly-Media-2019.pdf" TargetMode="Externa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2666" y="609600"/>
            <a:ext cx="7704856" cy="3124200"/>
          </a:xfrm>
        </p:spPr>
        <p:txBody>
          <a:bodyPr>
            <a:normAutofit/>
          </a:bodyPr>
          <a:lstStyle/>
          <a:p>
            <a:r>
              <a:rPr lang="en-US" sz="5400" dirty="0"/>
              <a:t>Machine Learning – An Introduction</a:t>
            </a:r>
            <a:br>
              <a:rPr lang="en-US" dirty="0">
                <a:solidFill>
                  <a:schemeClr val="accent2"/>
                </a:solidFill>
              </a:rPr>
            </a:br>
            <a:br>
              <a:rPr lang="en-US" sz="800" dirty="0">
                <a:solidFill>
                  <a:schemeClr val="accent2"/>
                </a:solidFill>
              </a:rPr>
            </a:br>
            <a:br>
              <a:rPr lang="en-US" sz="2200" dirty="0">
                <a:latin typeface="+mn-lt"/>
              </a:rPr>
            </a:br>
            <a:endParaRPr lang="en-IN" sz="3100" dirty="0">
              <a:latin typeface="+mn-lt"/>
            </a:endParaRPr>
          </a:p>
        </p:txBody>
      </p:sp>
      <p:sp>
        <p:nvSpPr>
          <p:cNvPr id="4" name="AutoShape 2" descr="data:image/jpeg;base64,/9j/4AAQSkZJRgABAQAAAQABAAD/2wCEAAkGBhQSERUUEhQVFBQUFRgYFRgWFRcUFRgVFxYVFRUUGBQXGyceFxkjGhQUHy8gJScqLCwsFR4xNTAqNSYrLCkBCQoKDgwOGg8PGiwkHCUtKiwsLywuLDQqLywsLC8sLywvLCksLDQsKjQsLC8sLCw1LCwsLCwpLC8sLCksLCksLP/AABEIAJ8BPAMBIgACEQEDEQH/xAAcAAABBAMBAAAAAAAAAAAAAAAABAUGBwIDCAH/xABNEAABAwICBgYECwQHBwUAAAABAAIDBBEFEgYhMUFRcQcTImGBkTKhscEUIzVCUnJ0krPR8DRiguEVM3OTorLSQ1NUg6PT8QgXGGTi/8QAGgEBAAIDAQAAAAAAAAAAAAAAAAEDAgQFBv/EADMRAAICAAUABwYGAwEAAAAAAAABAgMEERIhMQUTQVFhofAicYGRsdEUIzJCUuEkwfFi/9oADAMBAAIRAxEAPwC8UIQgBCEIAQhCAEIQgBCEIAQhCAEIQgBCEIAQhCAEIQgBCEIAQhaqmqbG0ue4NaN59nee5Q2luyUm9kbUmxHEWQRl8hs0atQJJJ2AALbTzB7WuF7OAIvtsRcKOaeS/FRs+k+/g1p97gqrrNFbmi6irrLVBjfiHSE7ZDEB+9Ibn7rT71HqvSiqk2zOaODLM9bbH1rQYkswTCuunYwjVe7vqt1nz2eK4f4i22WWfJ6WNGHpi5aVt8fqTvRSidHTMzlznv7bi4lxu7YLng3KPNK8axIU8D5T80ahxcdTR4khLVA+kLE8z2wNOpnaf9YjsjwBJ/iXZtmqKvJHAoreJv37Xm/d62IK+Z+YuzOzOJJIJBJJuTq70sptJ6uL0Z5OTndYPJ91odGtT41xo2tcM9Y4QkspJMl+BdItS+RkT4mzF5AGT4t3M7W6hcnZqCsdRLQTRfqGddIPjZBqB2sYddu5x1E+A4qWrt0a9OczymOlU7Mqlkl5ghQTH+krqagMhY2SNlxIbkFzt4Y4ahbiQbm/C6lGB6RQ1bM0Lr29Jp1PaeDm+/YeKzjZGTyTKrMLbXBTktn63HNCEKw1gQhCAEIQgBCEIAQhCAEIQgBCEIAQhCAEIQgBCEIAQhCAEIQgBCEIBJiWJNhZmd4DeTwH5qDYnXvndmednotGxvLv7056SAmd1ySAG27hYbPG6b6enu9o4uA8yAuDi75WTdfYnkdvC1Rrip9rJ7TR5WNbwaB5Cyiemj7ysb9Fl/vH/wDIUwUJ0gdmqH91h5AX9d1vY96acvE08DvbqGExKWaE4dZr5SNbuy3kNbvM2+6o+2AkgAXJNhzOxWDQ0ojjawfNFuZ3nxNytPo+vVZqfYbuPuyr0LtPayqEcbnu2NBP8uZ2eKqmrkMj3Pd6TiSeZU10yrtTYhv7TuXzR53PgFEHRJj7dU9C4X1M+jq9ENb5f0G98SkOhmjXWv66QfFsPZB+c8e4e23ek2FYO6eUMGobXHg3eee4KyaambGxrGCzWiwHcpwWH1vXLhGePxnVx6uPL8kbVDNO9KuraYIT8Y4dtw+Y0/NB+kR5DmE76U6RCmjs2xleOyNth9Mjhw4nxVWT3cSXEkkkknWSTrJJ4rbxWJ0+xHntNbo7B631s+Ozx/obXxr2irZIJBJE4se3YR7CNhB4Fb3xpO9i0YTPSbNZMt3RDTNlY3K6zJ2jtM3OH02X2ju2jyJkirjQnQJ4eyonLo8pzRsBLXk8Xna0fu7Tv1ajY67NTk45yPHY2FULWqnt9AQhCtNMEIUWxnpKoaWp+DTSObJ2L2Y4tbntbM4Cw1EE8AUBKUIQgBCEIAQhCAEIQgBCRYzjMVJC6ed2SNlszsrnWzODR2Wgk63DcssKxWOphZNC7NHILtNi24uRscARrB2hAK0IQgBCEIAQhCAEIQgBYxyBwuDcHYkWM1eSOw2u1DlvP64owN94QOBI9d/eqOuXW9V4ZlvV+xr8Ro0ji+NB4sHtcEkwyG80f1gfLX7k6aRR9ph7iPI/zSfBY/jm9wJ9RHvXGtj/AJWXijown+R8CSqDVJzPc76TifMkqZ1kmWNx4NPs1KIZFsdJS3jH3lOC2zYq0eos0uY7GC/jsHvPgpTJIGgk6gBc8gkOCUuSIHe7WeW71e1J9I6qzAwbXaz9UfmfYVsU5YfD6nzz9iu19ddl8CLV0xke552uN+Q3DwFkmbTlxAAuSbAcSUsdGpDo7hOUda4do+iOAO/mfZzXJpqlfZl8zqWXKmGfyFuC4UII8u1x1vPE8OQ/W1ZYvirYIy92s7Gt3uPDlxKU1VS2Npc42A/Vh3qAYvXuneXO1DY0bgOHPiV2MRdHDwUIc9n3Obh6XiLNU+O37DTX1DpXue83c46/cBwASCSNOUkazw/B5J35YxzJ9Fo4k+5cNapS23bPSKcYR32SGaKjdI4MY0uc42AGslWFovoOyC0k1nzbQNrWcuLu/wAuJd8D0ejpm9ntPI7TztPcOA7vanQldvDYXR7U+Th4zpGVvsV7R83/AECadINJ4aNl5XXcR2WN1vdyG4d51Jh0m6QGx3jprPfsMm1jfq/TPq57FWdbO6Rxe9xc52slxuSrLMVFbR3ZlhOjJWe1bsu7tf2L6o6tssbZGHMx7Q5p7jrW5V50V47qfSvOy74uV+23zId/E5WGtiueuOZz8TQ6LXB/D3CHG8WZS08s8noRMLjxNhqaO8mwHeQuem6Kz19FWYo8kvEuYN3OaLmoI/daHNt3RuCmfT1pRZsdEw+laWbkCREw83Au/gbxWOCdMeHU1JHTNgqCyOPIbth7Vx23Edb84lxP1isygl3RNpR8MoGB5vNT2ikvtNh8W882218WuT3pfpEKGkkqSzrBHk7Idlvne1npWNrZr7Nyozoy0pjo8UswuFLUOMXbtdrS74hzrEjM0kNJvse4q2emD5HqOcP48SAYKjpmklaPgFBNUZWNdM6zy2NxaC6PsMJNr2zG17agRrUj0A6RosTa9uQxTxgF8ZdmBaTbOx1hcX1HUCCRxBPvRQxowmlygC7XF1ra3Z3ZibfO4qFaO5TpVUmn/qwJOsy7L9XGJP8Arbe9ASvS3pBnpqk01LQS1MgY15cL5Mrr2IyNcbXaRry6wUg0d6V5H1jKSupHUskmphu7ab5QWvaDYkEBwJ16uXuOdI1TJWvocLp2TSxX62SU2Y0tsHWGZuppIbcnWdQB2mG40a7+m8O/pDqRL1kGTqb5cnXnbfffMgLd0u0thw6nM01zc5WMbbM95BIaL6hqBJJ2AcgYE3per8nX/wBFSGmtmDgZPR+ln6q1u+1u9JunKxqsObJ/Ulz83CxkgD7/AMPtVvtaALAWA1C2qw4IQQjpVqRJgkzxseIHDk6aEj2qHaL9Jk0NBBBR0MtSYI7TPyvyNdmc7KOra6+ojWSOR2qbdL4tg9RbjD+PElHRYwDCaWwAvGSbC2svfc80JPOj7pBZicb+x1UsVs7M2YWdfK9rrC4JBGzVbkTq016R2UUjKeGJ1TVSWLYmEiwN8uYgE3NjZoF7C5sLXifRs0Nx7E2t1C82obP2kfmU1U7at+kdZ8GNOKhvWZfhIcW9WBE0ZcovmyZf4cyAluD9K0gqmU2I0jqN0pAjeSS0lxs0EOA1E6swJsTrttVjKpdLNA8YxFsYqJKAdUXFhjMzCC4AHWWHVqb5BWvEDlGbbYX570IM0IQgBCEIBixsEyC+zLq9/wCuSU4Eey4d9/MfyW7FoLsvvafUdvuSbBzZxHEew/zXHydeM37f9r7m7mpU5dxnjrLhp7z67fktGCR9sng32kJbi7ewPre4rVgzfSPL3pOP+avn5EKX5Juxd3xRHEgeu/uTHT0ud4bxOvlv9SeMZdqaO8ny1e9YYPBtd4D2n3LHER67FKHYsvuTXLRVmOeoDgAopXzdY8u47OQ2frvT9i09mWG12rw3/l4pmgpC9waP/A4qcfY5TVUfTJwy0pzZ7hOGdY67vQbt7zwUlc4AXOoBYQQhjQ0bB+rpkxrEc3Yb6I2nieHJbMVHB1Zvn6v7FbcsRPwG7G8SMzrD0G7BxP0imh7EtcxO2F6O5rOlFhubvPPgO5cmMbMRPvZ1NcKIeA0YTo86c3PZj3u3nubx57PYppR0TImBjBYD1niTvK3NaALAWA2AJnxnSRsN2ss+Th81v1j7vYuzXVXhY6pPfvOdZbbipaVx3DhiGJRwszSOsN3EngBvKrvSPSuSouxt44vog63fWPu2c1pxCrfK7NI4uPqA4Abgm6Vi51+MlZtHZHYweChV7Ut5eSG6RiTSNS+Rq0spXPcGsa5zjsDQSfIKmDOtnkasIxE09RHMPmOBPe3Y8eLS4K+GPBAI1gi4PduKrHCejGWSxncIm/RFnSf6W+vkrJoqQRRsjaSQxoaC43NmgAXO86l2cNGUU9SPO9K21WSjoebXJBcB6OphisuIVkkUhdmMbGZjlJsxl8zRqbH2Rzup78Gb9FvkFsQts4xAekvozOI9U+B0cUsd2uLgQHRnWB2QTcO2fXcsOkaGVmj8jalzXzNbA2R7b5XOE8Qz9oA3NgT3kqwVjJEHCzgCDuIuPIoCmtEejWaeghmpcQmpROy8rGlxY513NLhke22oDbfnuU90F6PYcMY7I4yyyWzyOABIGxrWj0W77XJJ2k2FpRHGGizQABsAFh5BZICq67o+xGmxGarw2WG1QXFwl2jO4Pc0jKQRn1ggg7ueuu6L8SnqaeqmrY3TseC4iPsxNYc7OqbYCTtXuCG7Rt1q2EICL6eaDsxKmEbnZJYzmiktcB1rODm72uG0dwO6yhlNojpC1nwcVsTYgMofnzODdgAf1PWesc1baEBF9KNFJKnCzRMe3PkhbnfmseqdG4k2ubnIfNLtDsEdSUUNO9zXOiZlJbfKTmJ1XF96ekICD6K6CS0uJ1dW+SNzKgyZWtzZhnlEgzXFtgtqK0ac9Gr6mobWUU3werba5JIa/KLNdmaCWuy9nYQRYEKfoQFWHR7SKUZJK2GJp1FzMofbiDHCHX8QrSaLAL1CAEIQgBaqmXK0nhb2hbUnroyWED9WVdzark485MyjyszaQHN7iPUU1UTcsoB7x7Usw2W7cvD2LXVsyyNdxI9X8lzr5KyFd67Gs/XvLo+y3A34i28Z8PateFNs08/cFvqxdjuSxoG2YOZ9qvlH/LT/APP+zBP8vLxEWKG7wOA9v6CcKaLK0Dz570kazNMTuB9moetKK6bK3vOoe9VUtRlZfLvaXwMpbpQQ11sud5tyCc6GkyN/eO38low6k+cfD81urqvINXpHZ3d6ww8FBPE28v1/wynLP8uInxSusMjdp2ngOHNMghJNgLk7AEtip3PNhr4n3kp4pKJsY1azvP62Ba8a7MZPW9ol2uNMclyJMOwYMs5+t27gPzPenCWUNBLiABvK0VuItjGvW7cB7+CjdbWOkN3HkNw8Fu2X1YWOiC39clcK53PVLg3YtpA512x3a3efnH8h61HZGpc9q2U2CyS+i2w+k7UP5+C5Mp2Xy33Z1a9FMe5DJI1Y02FyTG0bC7lsHNx1BTii0Sjbrk+MPDY3y3+Ke44w0WaAANgAsB4BbtXR8nvN5FVnSUY7VrP6ENw7o9G2d9/3GavN51+QHNSqhwyKFuWJjWDfYazzO0+KUPeALkgAbSdQ80w4npvTxXDXGV3BmsffOryuujGFNC7vqaMrMRinlu/BcEgQqvxbpDqJLiPLC3u7T/vOFvIBRaTEJHEl73OcTrLnFx8yq3jIft3NuvomySzm0vMvlCYtL9MIcOg62Y3J1Rxt9OR3AcAN7tg5kA0FpP0n1taSDKYYjsihJY23Bzh2n+Jt3Bbpxzoqv0hpoDaaohiPB8rGHycbpsPSNhoP7bT/AN4D61y4i6E5HVlPptQv9CspieHXx38i5O0M7Xi7HBw4tII8wuPVspqp8ZzRvdG7ixxYfNpBQZHYSFT3QjpRVVE80c88krGRBzRIc5Ds4F857Wy+9XChAIQhACEIQAhCEAIQhACFyvpFjdQKupAnnAFRMABNIAAJXgAAO1BN4x6p/wCIn/vpP9SE5HXCEyaESF2HUbnEucaaIkkkkkxtuSTrJTzJextt3KG8lmQJJI+reHD0Tt7r/q63Vkd2Hu1rJrg9vPaOBXsOyx3auY3FacaotSiv0y3Xg/W5Zqez7UDtbObfcvKYWYOX81lGywtw1eG5eFnZt3W9ytSeam+dJj4GqiZqJ3uN1rezrH/utSl+oWG3YF4AGN7h61S6VpjW/wBK3fj65Zlq3z7QnmDG38gm6KmdIbnZvPuCVNpy85n7NwW+WYMGvwAVc4de9dm0Fwu/xZknp2jyZRxhgsNQH6uU31mKbmef5LXPO6Q2GzgPes4cJJ9I27hrKqnfZd7GHW3f64+pnGMY7zGqQE95PiSt8GCPft7I79vkn2Glaz0R47/NE1S1npOA9vklfR8YrVa/t8zN4lvaCE1Lg0bNdsx4u1+Q2BLkz1WkIHoNv3nUPLb7Ey1uJyP9JxtwGoerb4q14uilaa1n7vuI4ey15yZJKzGoovScCeDe0fVs8VHsQ0zfsiYG97tZ8hqHrTRIEllC0rMdbPjZHRpwVUd5bmnEK+SU3ke53cTqHJuwJqlanCUJHKFp6m3mzsVpJZIQShZ0mHGQEgbDb1A+9EgVg6A4MDSl0jTd0riLi2oNa3f3tK3sPDrJZGGKxHUV6ilekzSR1ZiErr3jicYohuDWEguH1nBzr8COCiq9eTc323N+d9a8XdPHkx0N6LqrEGda0thhuQJJLnMQbHIwa3AG4uSBcEX1FTIf+nrVrrdf2fV+KpZ0U6T089BBCx7RNDGGPjJAfduovDfnNd6Vxx161N0IKNrf/T/UD+qqYZO57HxesZ1EcZ6NcQpgTJTPc0fOitM23E5LuA5gLqBCDMofoCktXzt405/wyx/6lfCRjB4RN14iYJspaZA0B5abEtLhrcOyNvBLEIBC8e8AEk2A1knUAN5uqx0r6coICY6Nnwh41GQnLCD3Ea5PCw4EoCz0Lm3EOmLE5SbTtiB3RRsAHi8Od603t6ScSBv8Mm/wkeRbZCcjqJC53wvpsxCI/GOjnbvEkYafB0eWx5gq0dDelilryI3XgnOyN5Ba88I5NQce4gHuKEE3QhCA5K0k/bKn7TN+K9NwTjpJ+2VP2mb8V6bghkdU6B/JlF9lh/Dan1MWgfyZRfZYfw2rVp7pQ7D6N1QxjZC17G5XEtHbcG3uB3oYj+Y9dxt396zVIf8AyCn/AOEi/vX/AOlT7o909/pCmmmlYyHqZC11nktDAxr85c61trvJQopcEkxQqR0y6cZXPdHh9mRg265zQ57+9jHamt5gk/uqIU/SjibHZhVyHuc2NzfultvJSMjp2ywMdzc7tg9/NQXov6Q5MSbIyaENfCGl0jP6t2YkAZSbtd2SbaxqOzYp44X2rGUUwaZJydTBc8dw8VrbQ3N3m5W90wGwE8h+gtL3yHYMvO11pWKDec85PuS29e9liz7NjeA1o3AeSTTYm0bO16h5rWaBx9Jw9ZWQwob3Hw1LCVmJltXDSvHIlKC/U8xFPiTzvyju/NIJU/twxnAnmT7ltbSMGxrfILXeBvsedki+N8I8IinVk7ATyF16MKldsY7xFvapeAvVbHo2P7pE/jGuERJujEztuVvN35ArYzQsn0pR4Nv6yfcpO6QDaQOZstD8TiG2Rg/jb+auWCojz5sj8Xe/0+SGePQmH5xe7xAHqF/WlkWi1M3/AGLT9a7/APMSspNJKdu2Vvhd3sCSTaa0zfnOdyY732WaWGh/HyJzxc/5eY8QUUbPQY1v1WhvsC3JjwrS6OolEcbJL2JJIaGgDee0TtIHinxbMJRks48GtbCcJZT5OXukXR00eITR2sx7jLEdxjkJcAPqnM3+FRpdRab6Dw4lCGSdiRlzFIBcsJ2gj5zTYXb3DYQCqC0k6O62iJ62Fz4xsliBkjI4kgXZ/EAsysjQNjcbRs7k/wCHafV8Furq5gBsDn9a37smYKPgr1CSxsM6da6O3WthnG+7TG/7zDlH3VP9G+mqiqSGTZqWQ7OsIMRPASjUP4g1c9IQg7Fa6+sawvVRnQzp8+OZtDO4uik1QEn+rk2iMH6DtYA3G1tpVy47iXwemmnOvqonyc8jS4DxtZCCnOmbT90krqGB1oo9U5B9N+3qr/QbvG91x83XVSymlc9xc43c4lzidpcTdx8SSURRFzg1ou5xAaOJJsB5lDIVYXg81S/q6eJ8r9tmNLrDiTsaO82CkM3RRibW5jSOI4Nkhc77rXkq/dD9FY6ClZDGBmsDK+2uSS3acTwvsG4WCfEIzOPaindG4ska5j2mzmuBa4HgWnWCtYK6B6Z9EWT0bqprQJ6YZi4DW6K/ba7iACXDhY8SufkB0D0QafOrYnU9Q7NUQtBDjtki2Zjxc02BO+7TtJVirlnQDGDTYjTSA2Blax/1JD1br8s1+bQupkByVpJ+2VP2mb8V6bgnHST9sqftM34r03BCTqnQP5MovssP4bVH+m35Jk/tYfxApBoH8mUX2WH8Nqj/AE2/JMn9rD+IEMTnZO1HpHJFRzUrCQ2okY6Qg7WsDrs5ElhP1Lb00p30S0fNdWRUwfk6wm7rXs1rHPdYbzZpA7yEMhnJRddV6O6F0lCwNghaDbXI4B0rjxdIRfwFgNwCxx3Qikq3MfNC3PG9rw9oDXHK4OyOIHbYbWIPHVY60IzG/ou0Y+BYfG1wtLL8bLxDnAZWH6rQ0cweKlyEIQYOltuPgFpdWgfNd5WW10ttoPhrC8bVNO/z1LUnPfJTSfivuZpeAmOJ/u+ta3YodwHrThqPA+tYOpWH5o8lVKrEvizyMlKC5Q2PxR/cPD+a0vxKT6XqH5J1dhzDu9ZWl2DsO9w8R+S1pYfF/wAvNl8bKu1DLJXyfTd529iSSzuO1zjzJKfZNH77H+Yv70lk0cfuc087j81ryw2J7U38TZhdUMEqSyJ9m0dm3Bp5OHvskE+Bzj/Zu8LH2FUOixcxfyN2F1b/AHL5jLKkcqdKmgkb6UbxzY4e5KdG8BNRLd4+LYbu7zuZ+fdzCiFcpSUUtzc62MIubeyJBoPg3VQ9Y4duWx5MHojxuT4jgpKgBC9LXWq4qKPLXWu2bm+0EKnqfptkpqmaCsh6xsU0kYkis2TKyRzRdh7LjYDYWqc4N0l4fU2yVLGOPzJT1Lr8O3YHwJVhUL8V0Oo6m5npoXk/OLAH/fFnetRTE+gygkuYjNAd2WTO3ykDj6wrCZIHC4IIOwjWPNZIDnPTfolnw+MzNe2eAEZnBpY9lyAC5lyMtyBcHfsCgq6P6WNJYIMPnhe9plnjMbI7gvObUXlu0NAubngBtK5wQk20lUYpGSNNnRua9p72EOHrAXS/SVJfCKst3w38CW39V1zLHCXkNGsuIaBxLtQHmV1hjmEdfRTU/wDvIHxi/EsLWnzsUDOTU76Hgf0hSZtnwqC/96xNL2EEhwsQbEHaCNRB8VlBOWOa9ps5jg5p4OaQQfMBCTsNCatF9Io66mjniIs8dpt7ljx6cbu8HzFjsITqhiNOloHwCqvs+DTX5dU+65OXRPTHpSymoHwBw66pbka0bRGdUjzwGW7ebu4rndCUbKUnOy23M23O4suwQuVtBsJNTiFNEBcGZrnfUjPWP/wsI8V1UgZyVpJ+2VP2mb8V6bgnHST9sqftM34r03BCTqnQP5MovssP4bVH+m35Jk/tYfxApBoH8mUX2WH8Nqj/AE2/JMn9rD+IEMTnZTDoi+WKb/m/gSqHqYdEXyxTf838CVDI6WQhCGILw9y8c61uH6ssJbjWPEce/mq5zyT8Oe8lI8+EWNnavYfFeyU7XbvEL0Oa8cQkkkTo9bTq/W0LVsm1HOS1w8/7M0t9tmeS4cfmm/qPmkz5Hs2lw5pZFiQ+dq7xsSsEOG4jzC1lh6bfaolk/XxLNco/qQ0DFHjgeY/JbBjfFvkUonwtrtnZPds8k21OGPbsGYd35bVXNYuntbXzLYdVPkXNx2PfmHhf2LfHicR2Pb4m3tUXkWh5WMekbVyky78JB8E4a8HYb8l6q+LyNhI5Gyc8GFTKezI5rBtc7tDkA69yturH63p0vPwMJ4LStWpZeJLkLxo1cf13L1dI54IQhAcr6fR5cTrB/wDYkP3nF3vTCrv0z6FX1VTLUQ1DQ6V2YskYQAbAapGknd9FQev6GcSjvaKOQDfHMy3/AFC0oSQ2nq3x/wBW97PqOcz/ACkJU/SGqIsamoI4GeUjyzL2uwCeE2ljLSP3mH/K4pF1B4exCTBxubnWTtO88yhO2DaJ1VU7LBFnP142/wCZwViaNdAsjiHV0rWN2mOI5nnuMhFm+APMIBj6H9D3VVY2dzfiKZweSdjpRrjYOJBs88AB9ILohJcMwuKnibFAxscbBZrW7O88SSdZJ1k7UqQxKF6ZNBHQTurIW3gmdeW3+zlO0ng1513+kSN4VZrsOeBr2lr2hzXAhzXAFpB1EEHUR3Kp9K+ghjyX0EgjJ19VJcs/gkF3NHcQ7mEJKmwPSSpo3l9NM6In0rWLXW2ZmOBa7xCksvTNiZbbrmN/ebCzN6wR6kzY7oLWUZ+PiyjcRJG4HvFnX8wmUU7ju9YQkzr8QknkMkz3SSO2ueS5x4azu7ty0KW4D0W19WA5kbWMPz3yMDfJhc71K1tC+hyno3Nlnd8JmbrbdtomHcWsN8zh9J3MAFCBJ0M6BupozV1Dcs0zbRtIs5kRsbkbnPIBtuDRvJCs5CEIOStJP2yp+0zfivTcFamL9B9bLUTSNlpg2SWR4u+S9nvc4XtFtsUlHQJXf72l+/L/ANpCS39A/kyi+yw/htUf6bfkmT+1h/EClejWGup6OngeQXxQxscW3LSWNDSQSAbauCa+kTRqSvoXU8LmNe58bgZCQ2zXBx1taTu4IQcvqYdEXyxTf838CVPX/sJXf72l+/L/ANpP2gnRFV0VfDUSyU7mR57hj5C7tRPYLB0YG1w3oSW8hCEIMXsuCOKwgJtZ20b+K2oWDh7WonPbIRVEZYczdm/9cFvp6kO57wtpF0idhxBu11uH/lacoWUz1VLOL5X2LE1JZPkyqqC+tuo8Nx/JNnWOYdV2lPkWa3atfu2FYVNI1417dx3qu7Bqf5lW0vXyZlC3LaXAigxj6Y8R+SXxTtcLtIP69SaH4Q++q3O6yhwR4N8+U/u3J9yxotxSeUo5+RZOFTWaeQ51FGx/pNB79/ntTPWaNb43eDvzH5J7iYQLElx4mw9izW7Zh67d5LfzKYXTr/SxhoNGANcpzH6I2eJ3/ran1rQBYCwGwDUF6hZ1UwqWUURZbKx5yYIQhWlYIQhAf/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dirty="0"/>
          </a:p>
        </p:txBody>
      </p:sp>
      <p:sp>
        <p:nvSpPr>
          <p:cNvPr id="5" name="AutoShape 4" descr="data:image/jpeg;base64,/9j/4AAQSkZJRgABAQAAAQABAAD/2wCEAAkGBhQSERUUEhQVFBQUFRgYFRgWFRcUFRgVFxYVFRUUGBQXGyceFxkjGhQUHy8gJScqLCwsFR4xNTAqNSYrLCkBCQoKDgwOGg8PGiwkHCUtKiwsLywuLDQqLywsLC8sLywvLCksLDQsKjQsLC8sLCw1LCwsLCwpLC8sLCksLCksLP/AABEIAJ8BPAMBIgACEQEDEQH/xAAcAAABBAMBAAAAAAAAAAAAAAAABAUGBwIDCAH/xABNEAABAwICBgYECwQHBwUAAAABAAIDBBEFEgYhMUFRcQcTImGBkTKhscEUIzVCUnJ0krPR8DRiguEVM3OTorLSQ1NUg6PT8QgXGGTi/8QAGgEBAAIDAQAAAAAAAAAAAAAAAAEDAgQFBv/EADMRAAICAAUABwYGAwEAAAAAAAABAgMEERIhMQUTQVFhofAicYGRsdEUIzJCUuEkwfFi/9oADAMBAAIRAxEAPwC8UIQgBCEIAQhCAEIQgBCEIAQhCAEIQgBCEIAQhCAEIQgBCEIAQhaqmqbG0ue4NaN59nee5Q2luyUm9kbUmxHEWQRl8hs0atQJJJ2AALbTzB7WuF7OAIvtsRcKOaeS/FRs+k+/g1p97gqrrNFbmi6irrLVBjfiHSE7ZDEB+9Ibn7rT71HqvSiqk2zOaODLM9bbH1rQYkswTCuunYwjVe7vqt1nz2eK4f4i22WWfJ6WNGHpi5aVt8fqTvRSidHTMzlznv7bi4lxu7YLng3KPNK8axIU8D5T80ahxcdTR4khLVA+kLE8z2wNOpnaf9YjsjwBJ/iXZtmqKvJHAoreJv37Xm/d62IK+Z+YuzOzOJJIJBJJuTq70sptJ6uL0Z5OTndYPJ91odGtT41xo2tcM9Y4QkspJMl+BdItS+RkT4mzF5AGT4t3M7W6hcnZqCsdRLQTRfqGddIPjZBqB2sYddu5x1E+A4qWrt0a9OczymOlU7Mqlkl5ghQTH+krqagMhY2SNlxIbkFzt4Y4ahbiQbm/C6lGB6RQ1bM0Lr29Jp1PaeDm+/YeKzjZGTyTKrMLbXBTktn63HNCEKw1gQhCAEIQgBCEIAQhCAEIQgBCEIAQhCAEIQgBCEIAQhCAEIQgBCEIBJiWJNhZmd4DeTwH5qDYnXvndmednotGxvLv7056SAmd1ySAG27hYbPG6b6enu9o4uA8yAuDi75WTdfYnkdvC1Rrip9rJ7TR5WNbwaB5Cyiemj7ysb9Fl/vH/wDIUwUJ0gdmqH91h5AX9d1vY96acvE08DvbqGExKWaE4dZr5SNbuy3kNbvM2+6o+2AkgAXJNhzOxWDQ0ojjawfNFuZ3nxNytPo+vVZqfYbuPuyr0LtPayqEcbnu2NBP8uZ2eKqmrkMj3Pd6TiSeZU10yrtTYhv7TuXzR53PgFEHRJj7dU9C4X1M+jq9ENb5f0G98SkOhmjXWv66QfFsPZB+c8e4e23ek2FYO6eUMGobXHg3eee4KyaambGxrGCzWiwHcpwWH1vXLhGePxnVx6uPL8kbVDNO9KuraYIT8Y4dtw+Y0/NB+kR5DmE76U6RCmjs2xleOyNth9Mjhw4nxVWT3cSXEkkkknWSTrJJ4rbxWJ0+xHntNbo7B631s+Ozx/obXxr2irZIJBJE4se3YR7CNhB4Fb3xpO9i0YTPSbNZMt3RDTNlY3K6zJ2jtM3OH02X2ju2jyJkirjQnQJ4eyonLo8pzRsBLXk8Xna0fu7Tv1ajY67NTk45yPHY2FULWqnt9AQhCtNMEIUWxnpKoaWp+DTSObJ2L2Y4tbntbM4Cw1EE8AUBKUIQgBCEIAQhCAEIQgBCRYzjMVJC6ed2SNlszsrnWzODR2Wgk63DcssKxWOphZNC7NHILtNi24uRscARrB2hAK0IQgBCEIAQhCAEIQgBYxyBwuDcHYkWM1eSOw2u1DlvP64owN94QOBI9d/eqOuXW9V4ZlvV+xr8Ro0ji+NB4sHtcEkwyG80f1gfLX7k6aRR9ph7iPI/zSfBY/jm9wJ9RHvXGtj/AJWXijown+R8CSqDVJzPc76TifMkqZ1kmWNx4NPs1KIZFsdJS3jH3lOC2zYq0eos0uY7GC/jsHvPgpTJIGgk6gBc8gkOCUuSIHe7WeW71e1J9I6qzAwbXaz9UfmfYVsU5YfD6nzz9iu19ddl8CLV0xke552uN+Q3DwFkmbTlxAAuSbAcSUsdGpDo7hOUda4do+iOAO/mfZzXJpqlfZl8zqWXKmGfyFuC4UII8u1x1vPE8OQ/W1ZYvirYIy92s7Gt3uPDlxKU1VS2Npc42A/Vh3qAYvXuneXO1DY0bgOHPiV2MRdHDwUIc9n3Obh6XiLNU+O37DTX1DpXue83c46/cBwASCSNOUkazw/B5J35YxzJ9Fo4k+5cNapS23bPSKcYR32SGaKjdI4MY0uc42AGslWFovoOyC0k1nzbQNrWcuLu/wAuJd8D0ejpm9ntPI7TztPcOA7vanQldvDYXR7U+Th4zpGVvsV7R83/AECadINJ4aNl5XXcR2WN1vdyG4d51Jh0m6QGx3jprPfsMm1jfq/TPq57FWdbO6Rxe9xc52slxuSrLMVFbR3ZlhOjJWe1bsu7tf2L6o6tssbZGHMx7Q5p7jrW5V50V47qfSvOy74uV+23zId/E5WGtiueuOZz8TQ6LXB/D3CHG8WZS08s8noRMLjxNhqaO8mwHeQuem6Kz19FWYo8kvEuYN3OaLmoI/daHNt3RuCmfT1pRZsdEw+laWbkCREw83Au/gbxWOCdMeHU1JHTNgqCyOPIbth7Vx23Edb84lxP1isygl3RNpR8MoGB5vNT2ikvtNh8W882218WuT3pfpEKGkkqSzrBHk7Idlvne1npWNrZr7Nyozoy0pjo8UswuFLUOMXbtdrS74hzrEjM0kNJvse4q2emD5HqOcP48SAYKjpmklaPgFBNUZWNdM6zy2NxaC6PsMJNr2zG17agRrUj0A6RosTa9uQxTxgF8ZdmBaTbOx1hcX1HUCCRxBPvRQxowmlygC7XF1ra3Z3ZibfO4qFaO5TpVUmn/qwJOsy7L9XGJP8Arbe9ASvS3pBnpqk01LQS1MgY15cL5Mrr2IyNcbXaRry6wUg0d6V5H1jKSupHUskmphu7ab5QWvaDYkEBwJ16uXuOdI1TJWvocLp2TSxX62SU2Y0tsHWGZuppIbcnWdQB2mG40a7+m8O/pDqRL1kGTqb5cnXnbfffMgLd0u0thw6nM01zc5WMbbM95BIaL6hqBJJ2AcgYE3per8nX/wBFSGmtmDgZPR+ln6q1u+1u9JunKxqsObJ/Ulz83CxkgD7/AMPtVvtaALAWA1C2qw4IQQjpVqRJgkzxseIHDk6aEj2qHaL9Jk0NBBBR0MtSYI7TPyvyNdmc7KOra6+ojWSOR2qbdL4tg9RbjD+PElHRYwDCaWwAvGSbC2svfc80JPOj7pBZicb+x1UsVs7M2YWdfK9rrC4JBGzVbkTq016R2UUjKeGJ1TVSWLYmEiwN8uYgE3NjZoF7C5sLXifRs0Nx7E2t1C82obP2kfmU1U7at+kdZ8GNOKhvWZfhIcW9WBE0ZcovmyZf4cyAluD9K0gqmU2I0jqN0pAjeSS0lxs0EOA1E6swJsTrttVjKpdLNA8YxFsYqJKAdUXFhjMzCC4AHWWHVqb5BWvEDlGbbYX570IM0IQgBCEIBixsEyC+zLq9/wCuSU4Eey4d9/MfyW7FoLsvvafUdvuSbBzZxHEew/zXHydeM37f9r7m7mpU5dxnjrLhp7z67fktGCR9sng32kJbi7ewPre4rVgzfSPL3pOP+avn5EKX5Juxd3xRHEgeu/uTHT0ud4bxOvlv9SeMZdqaO8ny1e9YYPBtd4D2n3LHER67FKHYsvuTXLRVmOeoDgAopXzdY8u47OQ2frvT9i09mWG12rw3/l4pmgpC9waP/A4qcfY5TVUfTJwy0pzZ7hOGdY67vQbt7zwUlc4AXOoBYQQhjQ0bB+rpkxrEc3Yb6I2nieHJbMVHB1Zvn6v7FbcsRPwG7G8SMzrD0G7BxP0imh7EtcxO2F6O5rOlFhubvPPgO5cmMbMRPvZ1NcKIeA0YTo86c3PZj3u3nubx57PYppR0TImBjBYD1niTvK3NaALAWA2AJnxnSRsN2ss+Th81v1j7vYuzXVXhY6pPfvOdZbbipaVx3DhiGJRwszSOsN3EngBvKrvSPSuSouxt44vog63fWPu2c1pxCrfK7NI4uPqA4Abgm6Vi51+MlZtHZHYweChV7Ut5eSG6RiTSNS+Rq0spXPcGsa5zjsDQSfIKmDOtnkasIxE09RHMPmOBPe3Y8eLS4K+GPBAI1gi4PduKrHCejGWSxncIm/RFnSf6W+vkrJoqQRRsjaSQxoaC43NmgAXO86l2cNGUU9SPO9K21WSjoebXJBcB6OphisuIVkkUhdmMbGZjlJsxl8zRqbH2Rzup78Gb9FvkFsQts4xAekvozOI9U+B0cUsd2uLgQHRnWB2QTcO2fXcsOkaGVmj8jalzXzNbA2R7b5XOE8Qz9oA3NgT3kqwVjJEHCzgCDuIuPIoCmtEejWaeghmpcQmpROy8rGlxY513NLhke22oDbfnuU90F6PYcMY7I4yyyWzyOABIGxrWj0W77XJJ2k2FpRHGGizQABsAFh5BZICq67o+xGmxGarw2WG1QXFwl2jO4Pc0jKQRn1ggg7ueuu6L8SnqaeqmrY3TseC4iPsxNYc7OqbYCTtXuCG7Rt1q2EICL6eaDsxKmEbnZJYzmiktcB1rODm72uG0dwO6yhlNojpC1nwcVsTYgMofnzODdgAf1PWesc1baEBF9KNFJKnCzRMe3PkhbnfmseqdG4k2ubnIfNLtDsEdSUUNO9zXOiZlJbfKTmJ1XF96ekICD6K6CS0uJ1dW+SNzKgyZWtzZhnlEgzXFtgtqK0ac9Gr6mobWUU3werba5JIa/KLNdmaCWuy9nYQRYEKfoQFWHR7SKUZJK2GJp1FzMofbiDHCHX8QrSaLAL1CAEIQgBaqmXK0nhb2hbUnroyWED9WVdzark485MyjyszaQHN7iPUU1UTcsoB7x7Usw2W7cvD2LXVsyyNdxI9X8lzr5KyFd67Gs/XvLo+y3A34i28Z8PateFNs08/cFvqxdjuSxoG2YOZ9qvlH/LT/APP+zBP8vLxEWKG7wOA9v6CcKaLK0Dz570kazNMTuB9moetKK6bK3vOoe9VUtRlZfLvaXwMpbpQQ11sud5tyCc6GkyN/eO38low6k+cfD81urqvINXpHZ3d6ww8FBPE28v1/wynLP8uInxSusMjdp2ngOHNMghJNgLk7AEtip3PNhr4n3kp4pKJsY1azvP62Ba8a7MZPW9ol2uNMclyJMOwYMs5+t27gPzPenCWUNBLiABvK0VuItjGvW7cB7+CjdbWOkN3HkNw8Fu2X1YWOiC39clcK53PVLg3YtpA512x3a3efnH8h61HZGpc9q2U2CyS+i2w+k7UP5+C5Mp2Xy33Z1a9FMe5DJI1Y02FyTG0bC7lsHNx1BTii0Sjbrk+MPDY3y3+Ke44w0WaAANgAsB4BbtXR8nvN5FVnSUY7VrP6ENw7o9G2d9/3GavN51+QHNSqhwyKFuWJjWDfYazzO0+KUPeALkgAbSdQ80w4npvTxXDXGV3BmsffOryuujGFNC7vqaMrMRinlu/BcEgQqvxbpDqJLiPLC3u7T/vOFvIBRaTEJHEl73OcTrLnFx8yq3jIft3NuvomySzm0vMvlCYtL9MIcOg62Y3J1Rxt9OR3AcAN7tg5kA0FpP0n1taSDKYYjsihJY23Bzh2n+Jt3Bbpxzoqv0hpoDaaohiPB8rGHycbpsPSNhoP7bT/AN4D61y4i6E5HVlPptQv9CspieHXx38i5O0M7Xi7HBw4tII8wuPVspqp8ZzRvdG7ixxYfNpBQZHYSFT3QjpRVVE80c88krGRBzRIc5Ds4F857Wy+9XChAIQhACEIQAhCEAIQhACFyvpFjdQKupAnnAFRMABNIAAJXgAAO1BN4x6p/wCIn/vpP9SE5HXCEyaESF2HUbnEucaaIkkkkkxtuSTrJTzJextt3KG8lmQJJI+reHD0Tt7r/q63Vkd2Hu1rJrg9vPaOBXsOyx3auY3FacaotSiv0y3Xg/W5Zqez7UDtbObfcvKYWYOX81lGywtw1eG5eFnZt3W9ytSeam+dJj4GqiZqJ3uN1rezrH/utSl+oWG3YF4AGN7h61S6VpjW/wBK3fj65Zlq3z7QnmDG38gm6KmdIbnZvPuCVNpy85n7NwW+WYMGvwAVc4de9dm0Fwu/xZknp2jyZRxhgsNQH6uU31mKbmef5LXPO6Q2GzgPes4cJJ9I27hrKqnfZd7GHW3f64+pnGMY7zGqQE95PiSt8GCPft7I79vkn2Glaz0R47/NE1S1npOA9vklfR8YrVa/t8zN4lvaCE1Lg0bNdsx4u1+Q2BLkz1WkIHoNv3nUPLb7Ey1uJyP9JxtwGoerb4q14uilaa1n7vuI4ey15yZJKzGoovScCeDe0fVs8VHsQ0zfsiYG97tZ8hqHrTRIEllC0rMdbPjZHRpwVUd5bmnEK+SU3ke53cTqHJuwJqlanCUJHKFp6m3mzsVpJZIQShZ0mHGQEgbDb1A+9EgVg6A4MDSl0jTd0riLi2oNa3f3tK3sPDrJZGGKxHUV6ilekzSR1ZiErr3jicYohuDWEguH1nBzr8COCiq9eTc323N+d9a8XdPHkx0N6LqrEGda0thhuQJJLnMQbHIwa3AG4uSBcEX1FTIf+nrVrrdf2fV+KpZ0U6T089BBCx7RNDGGPjJAfduovDfnNd6Vxx161N0IKNrf/T/UD+qqYZO57HxesZ1EcZ6NcQpgTJTPc0fOitM23E5LuA5gLqBCDMofoCktXzt405/wyx/6lfCRjB4RN14iYJspaZA0B5abEtLhrcOyNvBLEIBC8e8AEk2A1knUAN5uqx0r6coICY6Nnwh41GQnLCD3Ea5PCw4EoCz0Lm3EOmLE5SbTtiB3RRsAHi8Od603t6ScSBv8Mm/wkeRbZCcjqJC53wvpsxCI/GOjnbvEkYafB0eWx5gq0dDelilryI3XgnOyN5Ba88I5NQce4gHuKEE3QhCA5K0k/bKn7TN+K9NwTjpJ+2VP2mb8V6bghkdU6B/JlF9lh/Dan1MWgfyZRfZYfw2rVp7pQ7D6N1QxjZC17G5XEtHbcG3uB3oYj+Y9dxt396zVIf8AyCn/AOEi/vX/AOlT7o909/pCmmmlYyHqZC11nktDAxr85c61trvJQopcEkxQqR0y6cZXPdHh9mRg265zQ57+9jHamt5gk/uqIU/SjibHZhVyHuc2NzfultvJSMjp2ywMdzc7tg9/NQXov6Q5MSbIyaENfCGl0jP6t2YkAZSbtd2SbaxqOzYp44X2rGUUwaZJydTBc8dw8VrbQ3N3m5W90wGwE8h+gtL3yHYMvO11pWKDec85PuS29e9liz7NjeA1o3AeSTTYm0bO16h5rWaBx9Jw9ZWQwob3Hw1LCVmJltXDSvHIlKC/U8xFPiTzvyju/NIJU/twxnAnmT7ltbSMGxrfILXeBvsedki+N8I8IinVk7ATyF16MKldsY7xFvapeAvVbHo2P7pE/jGuERJujEztuVvN35ArYzQsn0pR4Nv6yfcpO6QDaQOZstD8TiG2Rg/jb+auWCojz5sj8Xe/0+SGePQmH5xe7xAHqF/WlkWi1M3/AGLT9a7/APMSspNJKdu2Vvhd3sCSTaa0zfnOdyY732WaWGh/HyJzxc/5eY8QUUbPQY1v1WhvsC3JjwrS6OolEcbJL2JJIaGgDee0TtIHinxbMJRks48GtbCcJZT5OXukXR00eITR2sx7jLEdxjkJcAPqnM3+FRpdRab6Dw4lCGSdiRlzFIBcsJ2gj5zTYXb3DYQCqC0k6O62iJ62Fz4xsliBkjI4kgXZ/EAsysjQNjcbRs7k/wCHafV8Furq5gBsDn9a37smYKPgr1CSxsM6da6O3WthnG+7TG/7zDlH3VP9G+mqiqSGTZqWQ7OsIMRPASjUP4g1c9IQg7Fa6+sawvVRnQzp8+OZtDO4uik1QEn+rk2iMH6DtYA3G1tpVy47iXwemmnOvqonyc8jS4DxtZCCnOmbT90krqGB1oo9U5B9N+3qr/QbvG91x83XVSymlc9xc43c4lzidpcTdx8SSURRFzg1ou5xAaOJJsB5lDIVYXg81S/q6eJ8r9tmNLrDiTsaO82CkM3RRibW5jSOI4Nkhc77rXkq/dD9FY6ClZDGBmsDK+2uSS3acTwvsG4WCfEIzOPaindG4ska5j2mzmuBa4HgWnWCtYK6B6Z9EWT0bqprQJ6YZi4DW6K/ba7iACXDhY8SufkB0D0QafOrYnU9Q7NUQtBDjtki2Zjxc02BO+7TtJVirlnQDGDTYjTSA2Blax/1JD1br8s1+bQupkByVpJ+2VP2mb8V6bgnHST9sqftM34r03BCTqnQP5MovssP4bVH+m35Jk/tYfxApBoH8mUX2WH8Nqj/AE2/JMn9rD+IEMTnZO1HpHJFRzUrCQ2okY6Qg7WsDrs5ElhP1Lb00p30S0fNdWRUwfk6wm7rXs1rHPdYbzZpA7yEMhnJRddV6O6F0lCwNghaDbXI4B0rjxdIRfwFgNwCxx3Qikq3MfNC3PG9rw9oDXHK4OyOIHbYbWIPHVY60IzG/ou0Y+BYfG1wtLL8bLxDnAZWH6rQ0cweKlyEIQYOltuPgFpdWgfNd5WW10ttoPhrC8bVNO/z1LUnPfJTSfivuZpeAmOJ/u+ta3YodwHrThqPA+tYOpWH5o8lVKrEvizyMlKC5Q2PxR/cPD+a0vxKT6XqH5J1dhzDu9ZWl2DsO9w8R+S1pYfF/wAvNl8bKu1DLJXyfTd529iSSzuO1zjzJKfZNH77H+Yv70lk0cfuc087j81ryw2J7U38TZhdUMEqSyJ9m0dm3Bp5OHvskE+Bzj/Zu8LH2FUOixcxfyN2F1b/AHL5jLKkcqdKmgkb6UbxzY4e5KdG8BNRLd4+LYbu7zuZ+fdzCiFcpSUUtzc62MIubeyJBoPg3VQ9Y4duWx5MHojxuT4jgpKgBC9LXWq4qKPLXWu2bm+0EKnqfptkpqmaCsh6xsU0kYkis2TKyRzRdh7LjYDYWqc4N0l4fU2yVLGOPzJT1Lr8O3YHwJVhUL8V0Oo6m5npoXk/OLAH/fFnetRTE+gygkuYjNAd2WTO3ykDj6wrCZIHC4IIOwjWPNZIDnPTfolnw+MzNe2eAEZnBpY9lyAC5lyMtyBcHfsCgq6P6WNJYIMPnhe9plnjMbI7gvObUXlu0NAubngBtK5wQk20lUYpGSNNnRua9p72EOHrAXS/SVJfCKst3w38CW39V1zLHCXkNGsuIaBxLtQHmV1hjmEdfRTU/wDvIHxi/EsLWnzsUDOTU76Hgf0hSZtnwqC/96xNL2EEhwsQbEHaCNRB8VlBOWOa9ps5jg5p4OaQQfMBCTsNCatF9Io66mjniIs8dpt7ljx6cbu8HzFjsITqhiNOloHwCqvs+DTX5dU+65OXRPTHpSymoHwBw66pbka0bRGdUjzwGW7ebu4rndCUbKUnOy23M23O4suwQuVtBsJNTiFNEBcGZrnfUjPWP/wsI8V1UgZyVpJ+2VP2mb8V6bgnHST9sqftM34r03BCTqnQP5MovssP4bVH+m35Jk/tYfxApBoH8mUX2WH8Nqj/AE2/JMn9rD+IEMTnZTDoi+WKb/m/gSqHqYdEXyxTf838CVDI6WQhCGILw9y8c61uH6ssJbjWPEce/mq5zyT8Oe8lI8+EWNnavYfFeyU7XbvEL0Oa8cQkkkTo9bTq/W0LVsm1HOS1w8/7M0t9tmeS4cfmm/qPmkz5Hs2lw5pZFiQ+dq7xsSsEOG4jzC1lh6bfaolk/XxLNco/qQ0DFHjgeY/JbBjfFvkUonwtrtnZPds8k21OGPbsGYd35bVXNYuntbXzLYdVPkXNx2PfmHhf2LfHicR2Pb4m3tUXkWh5WMekbVyky78JB8E4a8HYb8l6q+LyNhI5Gyc8GFTKezI5rBtc7tDkA69yturH63p0vPwMJ4LStWpZeJLkLxo1cf13L1dI54IQhAcr6fR5cTrB/wDYkP3nF3vTCrv0z6FX1VTLUQ1DQ6V2YskYQAbAapGknd9FQev6GcSjvaKOQDfHMy3/AFC0oSQ2nq3x/wBW97PqOcz/ACkJU/SGqIsamoI4GeUjyzL2uwCeE2ljLSP3mH/K4pF1B4exCTBxubnWTtO88yhO2DaJ1VU7LBFnP142/wCZwViaNdAsjiHV0rWN2mOI5nnuMhFm+APMIBj6H9D3VVY2dzfiKZweSdjpRrjYOJBs88AB9ILohJcMwuKnibFAxscbBZrW7O88SSdZJ1k7UqQxKF6ZNBHQTurIW3gmdeW3+zlO0ng1513+kSN4VZrsOeBr2lr2hzXAhzXAFpB1EEHUR3Kp9K+ghjyX0EgjJ19VJcs/gkF3NHcQ7mEJKmwPSSpo3l9NM6In0rWLXW2ZmOBa7xCksvTNiZbbrmN/ebCzN6wR6kzY7oLWUZ+PiyjcRJG4HvFnX8wmUU7ju9YQkzr8QknkMkz3SSO2ueS5x4azu7ty0KW4D0W19WA5kbWMPz3yMDfJhc71K1tC+hyno3Nlnd8JmbrbdtomHcWsN8zh9J3MAFCBJ0M6BupozV1Dcs0zbRtIs5kRsbkbnPIBtuDRvJCs5CEIOStJP2yp+0zfivTcFamL9B9bLUTSNlpg2SWR4u+S9nvc4XtFtsUlHQJXf72l+/L/ANpCS39A/kyi+yw/htUf6bfkmT+1h/EClejWGup6OngeQXxQxscW3LSWNDSQSAbauCa+kTRqSvoXU8LmNe58bgZCQ2zXBx1taTu4IQcvqYdEXyxTf838CVPX/sJXf72l+/L/ANpP2gnRFV0VfDUSyU7mR57hj5C7tRPYLB0YG1w3oSW8hCEIMXsuCOKwgJtZ20b+K2oWDh7WonPbIRVEZYczdm/9cFvp6kO57wtpF0idhxBu11uH/lacoWUz1VLOL5X2LE1JZPkyqqC+tuo8Nx/JNnWOYdV2lPkWa3atfu2FYVNI1417dx3qu7Bqf5lW0vXyZlC3LaXAigxj6Y8R+SXxTtcLtIP69SaH4Q++q3O6yhwR4N8+U/u3J9yxotxSeUo5+RZOFTWaeQ51FGx/pNB79/ntTPWaNb43eDvzH5J7iYQLElx4mw9izW7Zh67d5LfzKYXTr/SxhoNGANcpzH6I2eJ3/ran1rQBYCwGwDUF6hZ1UwqWUURZbKx5yYIQhWlYIQhAf//Z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dirty="0"/>
          </a:p>
        </p:txBody>
      </p:sp>
      <p:sp>
        <p:nvSpPr>
          <p:cNvPr id="6" name="AutoShape 2" descr="data:image/jpeg;base64,/9j/4AAQSkZJRgABAQAAAQABAAD/2wCEAAkGBxQTBhQUExQWFBUUFx4YGBYXFRgdHRsaGB8ZHR4YIBcZHisiHxwlHBYXIjEhJSorMi8uGCAzODMsNyktLi0BCgoKDg0OGxAQGi4iHyU0LDc3Liw3NCwuLC0sLDcsKzc0LDQsNzQ0NDQsLCs0LC8yLzQsNjcsLCssNC0sLCwsLP/AABEIAH0BkwMBIgACEQEDEQH/xAAcAAEAAgMBAQEAAAAAAAAAAAAABgcEBQgDAgH/xABQEAABAwIEAwMFCA8FBwUAAAABAAIDBBEFBhIhBzFBE1FhIjJxgZEIFGJyobGy0RcjJjU3QlJUc3SDk7PB0jZDksLhFRYzgqLD8SUnNERT/8QAGQEBAAMBAQAAAAAAAAAAAAAAAAECAwQF/8QAIhEBAAICAgICAwEAAAAAAAAAAAECAxEhMQQSQfATQlEi/9oADAMBAAIRAxEAPwC8UREBERAREQEXlUVDGR6nua0d7iAPlWskzRSB1jOw+i5HtAsqzasdyjcNwixKTFIZTaOVjz3NcCfYstTExPSRERSCIiAiIgIiICIiAiIgIiICIiAiIgIiICIiAiIgIiICIiAiIgIiICIiAiIgIiICIiAiIgIiICIvH30y/nt/xBB7KIZvzkKd5ihs6X8Zx3DPDxd4dOvctnnDGfeuCuePPf5DPjEHf1AE+xVLhlE+or9IO5N3OO9h1J8d/aVyeRmtExSncs721xD6mqZqiqu4vlefSfYByHoWbHgFQR/w7elzfrU6wnCWRQBrBbvPU+JK2jIApp4Md3nlX0/qqqiiliN3sc3x6f4hspHl7OUkTw2YmSPvO7m+N+o8Cpw7DmujsRzUAzZl3sHdpGPIPMd3iPD5lTJgth/1STU15hZ1PO18IewhzXC4I6heirzh3jJFSadx8l9yzwcNyPWN/V4qw104skXrtrWdwIiLRIiIgIiICIiAiIgIiICIiAiIgIiICIiAiIgIiICIiAiIgIiICIiAiIgIiICIiAiIgIiIIXxYxN8OWQI3FpmkEZIJB06XOO479IHoJVYZaytU1bu0hYCxjxdznAbixIF+Ztb2qweNX9n4P04+hIsvg/8A2R/bP/yoNXxUqSa+GLo2PWR4uJH+Q+1fmQqQe83P6udb1N/1JXzxShIxuN3R0WkelrnE/TCyciSg4bp6teflsf5/IuLFz5M7+/YY/ul0bdl6tC+GBezAvSWesBsVj4zTCSic08iLe1ZLQvCvkAiJPIblUtpaFPYfUGLFGO5dm8E+o7/zV4qhowZcRAH94+3+I/6q+ByXn+FPEqY36iIu5qIi8qqASUr2Ovpe0tNiQbOFjYjkd+aD8fVxgbvYPS4L2XLvGHJUOG4nCIZJHtma51pCCW6SBYOAFxv1XTOG/e6L4jfmCDJREQEREBEXzI8NjLnEAAXJJsABzJPcg+kUeyjm+HEHVBgDtEEnZ6zaz9r6m2/F7rqQoNTW5lpIcTbBLUxMmfa0bngO35bdL9L81tlTudeDktZnR9SyoY2GZwdIHau0bYAENAFnctrkWv1srhY2zQO7vQfqIiAiIgIiICIiAiIgIiICIiAiIg+XvAG5A9JXxHUMc+zXNJ52DgTbvso7nnJMGJ0rGzPljMerS6N1vOte7SCHDyR9Yuqf4DU/Z8R6mMG4ZFI2/fpkYL/Ig6HREQEREBERAREQVhxpxOM0MMDXtdIJC9wBBLQGubuByuXfIVuODwP+5wPfK+3jyHzg+xVznnLs9HjDp5Wxvjnnkc2znEHU5zg1ws0g6T07jura4fYqyoytE+ONsIbdhjb5oLedvA8999+qDH4jYUZsD1sF3QHXbvZbyh8x/wCVV9lfGewrrnzHbO8O4+r+auxU9n7AG02Ja4fMk8os/IJ7vgnu6eiy5M+O0WjJRlePmFkU9S17AQb3HRZjHKmcHzBLBsx12/ku3H+nqUjjz4QzeLfwf/otK+ZSY54RFoWK6UAKEZ7zCG05hYbvds634rfrPzLQYnnaeRtmARDvG7vafqWFl3Apayt8kHTfypDew9fU+CwzeT7x64/km++Ibrh1gxkxUSuHkxb+l3Qfz9QVqLEwrDmQUTY2DYdepPUlZa6MGL8dNT20pXUChnELPrMPbHFGzt6uewihB/KOkOdbexdsANyQR0JEzXNtXjMkvHR8vYuqXQTvZHC0i57AOaLF2wsW61ssmeY5sxU2EGtdPTaY265KeNgOlvXdzd7DnZ3ouphwyzoMUy/2haGTRu0StHLVa4c2++lw6HlYje11HsxZlxSoweeBmDSgTRPj1OnZ5OtpbfTbe172uFj8B8sVdFHV++onQ6yzSHEb21XOxPeEEc90t986L9HJ87VeWG/e6L4jfmCo33S33zov0cnztV5Yb97oviN+YIK0gz1WYpmCWmwoxQwwi76mVpcTvYFjRtYm9r3uBfbkYziOecXwjNDIsQkZUxOs64Y0B0ZNiWOa1tnDuPUdxurLgocMweWabVHS++SC4Ofz06j5DCbgXedm+CqTjtmKnrWUclP2jg3tR2joZGNdfsyA0vaNVt725XHeg6IikDow4G4IuD3gqto8x12K4zUxYdNHS09MdBqHR9o+SS581pOkN2O/o77Cb5fbqyzTg9aeMX9LGrnjD8XrcuZuljfHrikdu11w2VgJ0yMf0dY+PMgjlYJdhGfcTos/Mw/ECyoEkrI9YYGn7aQGSNLQARuLgjvUg43UWISYDIYJIo6OOLXMNTxK8gm7NmkFltO1xc3us7K2IYVi2NsroxerhjDezkNnMAJOrRezrF5GsX59Ft+J/wCD6u/QOQVBwYZipwic4eaQM7Ua/fHaX1aRy0DlZXBhYxUZfn98GldV79gI9fZ8hbXex86/LwUH9zaPuaqv04+g1W+goas4j4zT5rhpatkERfJGC1rAbse7TcO1HY7q+Vz5xg/DDSein/iuV0Z1xJ1NlKqmabOjhcWn4VrD5SEETxbPNRVZmdQYS2Nz4/8AjVMtzHHbYgBvM32v3326qK5wzBjuD1kck9RFVQSOsD2TQ243LDYBzSRe255HuWT7mqJv+za1345kYD8UBxHylyuGsoo5Yg2WNkjQQ4B7Q4BzeTrEcx3oNW7MkbMoiulDmM7ATFp84XaDo36kkAekKDUtRjeI4F78p6iGka/U6CnEQcXMBNtcjwbONugty5dJfxFwJ9bkyop4vPc0Fgva7mEODb+NretUvw94nTYWfeVbE90UbiOVpIbndtj5zb3NtiL7G1ggm/B/iHU12KS0lW1vaxRl4ka3SfIc1jmubyvd43FuqmGfc5w4ZhPaSAvkedMUQO73eno0bXPiOZIC+Mj0OHFstXQaXGqeXySAknU46iwg7ssTfRYKnuLWJOl4vQRljpWwOhYIQfPLnNeWi+13agL+hBMqv/eOXCPfbZKeHye0FK1l3Ftr6SXNPl26X9nJbfhJxBOJ0UjJmtbUQ2LtOzXtdezgCdiCLEeItzsFRnTE/wATBJj8aoY35mlRHgfk2uo8zyy1MDoWGAtGot3cXMI5E8gD7UEvz9n99NjUNBRxtlrJ9NjJfQwPNgSBuTsTboN9+Simea/H8NibVPq4podQDmsiaA0nkC1zdWknYEO59ysnGsu0RxmPEJw1ktONpXP0gDcDVc2NtRtfvUM4l53oarJdXBBI6d2gbxxSOY0tc1wJk06QNud0Ex4fZn/2jleOp0hrzdsjRyD27G3gdiPSoRxIzdjVDPJIyCBtI11mS21GxNhqu/Yk/BWT7nY/cTJ+sO+ixbHjt+Def48f02oIxWcR685NpWU7DPiFTG+VxihLuziD3Na/s2g7mwAuLbHwW/4L5hr6qjqBXBx7J4a2R7Ax2rfVGWgDzfJ6fjLz4A0IGTO3cdUkry3UebY4vJbGD+SCHG3wippnHEHU+U6uZmz44XuafhaTpPtsgiWM56qKjMxw/CWRvljv21RLcxx2NiABzIO1+/ax5iK5yxzHcIqWSy1EVVA82v2TQ0O56HAAOFxexueS9vc2NBpq153kL2Ak8yLPPP03Vx1tFHNDpljZI24dpe0OF27g2I5g9UGPgOI++MFgn0lnbRtk0nm3UAbeq6564c4v71z9WyNifPM7tI4oIxu9zpL7u5NaA0kuPILpMDZc/wDBX8KtZ8Sb+K1BnZwxnMsFOal4ZDC3dzYWxPDR8K+p1vG6nXCXOzsTwJ7pQ0Twu0v0iwIO7XAXNrgEHxafQpVj0Ydgc7XC4MTwQeo0lU37mXzsQ/Yf99BeaIiAiIgIiIK345n7naf9YH8OVZnBc/cb+2f/AJVgcdz9zlP+sj+HKs3gp/Yv9s//ACoJpile2DD3yv8ANYL+nuA8SbD1qla/MckkzzL5bXuLtJ/Fv0ae4Da3gpJxOx3XVinYfJj3f4v7v+UH2nwVesifNWsijGp8jg1o8T/LqT3BcOXPb8mqz0wvad6hMci5airZpHuLxEzybDY6zva/LYG/rClLuGsOraaUDxDD8tgpNl3CG0mDxwM30DynflOO7nes3WyXTOGtubRy19Y+VZ5owqhwvDmzzRzVILwwN1NG5BN7eSCNl65W4rUU1dHTiGSm1kNZqDNGo8m+QTa529JUvzPlqCvoRFUBxY1weNLi03AI5j0lc058wltDmmpp4nOLYS0scT5Q1MZINx1Bfa/hdXrSteoTERHTq5F+Dkv1WSLmfPTJMK4v++g06XTCpb8JshPaNuepJkHhcLphaPNuVKbEcO7KpZe27HtNnMPe138jcHuQZmB41BV4c2ankbIxwvcHcfBI5hw6grIZWxmrdEHtMjRqcwOBcAeRLeYCqKHgHG2t1CulDPyWxAPt3dpqt/0qfZdyLS0WEyw0zXMdMwtfNqvKbi2rUeVr3AAAvvZBVfulvvnRfo5PnarofWdjlrtbX7ODXbv0svb5FX1TwMo5Ji59VWPcebnSRkn0kx3UlyZw/hw7tBHNPKyRukxzPaWAdbNa0C56oKw4MCPEs4VVVXkT1DGtdE1+43LrlrDtZlmgDpqvzXt7pGujfLSRMe1z4e07Rrd9GsR6QbbAnQ6w5+St7V8CaY4n2kNTNCy99AAJHg2Qm49YKklTwtoXZV95BrmN1iTtQbyGQAjWXEWOxIta1ig3eX6+NuS4JtQMbKZjiRvs1gv8xURyrmijzDS1EFRTtHZuuyNzru7M7CQOABa4HY6TtcbrYZF4aQ4bUPc2eaYSNLDG8gR2dbfQObrC1z0JWiruCkbcX7ehrJaJ17gBuvTfo1we0geBJQQHOmU3YLnakkpJXESyB0QJ8sFrmgxm3nNOoDxBIPjdvEtpdw9rdt+wcSPQLn5itblzhvHDjAq6uolr6lttEkuzWW3Bay5sQSeZNr3FjuptPC18DmPAc1wLXNPIgixB8CCgpP3OmOQsoKmnkkYyQyCRoc4DUC0NNr87EDbxVxUGMQTVEjIZmSOitrDHB2nVe1yO+xVX1PASkdXlzKmZkZN+zs0keAeeg5bgn0qc0eSaeDLD6OmMlO2TzpY3fbSdru1kHewt4DlZBUPGD8MNJ6Kf+K5XfmnC/fWXKin5GWJzAe4kGx9tlXkvAiidIXOqatxO5JfGSfWY1MslZOjw2nkZHNPK1+naZ4cGBurZoAAbfUb+gdyCjODGZxhua5YKn7Uye0by7bRJGXadXcLuc092pdLtcCy4IIO9+lu+6g2eOFtHiNQZTqgnPOWO3lW2Gph2PpFjsN1ocJ4KMZGGT19RNCP7ll42HwI1u29FkEyznnKKhyw6rFpxq0MDHCznkkW1i4AGk3O/JaGHCaDMOVo6iSMNlLdLnxmz43t5sLreUBe4DgRYgqT1WUaR+WfeJhDae1gxtxpN76g7nqvvc8ze97qBUHBuWmqnmjxWenY/m0RXJHi5sjQT46UEX4WUM+H8XJaEP7Rga5slr6XNDQ9jy3o4XaPDURdeHHfD5KbPUNawWbIGOa/uliPL02DD/wCFcWTMkU+HMe6Mvlnl3lnlN3vubnfoL7+PUlbXH8DgrMMdBURiSN3TkQejgRuCO9BiZOzTBiGDsmheCSBrjv5THdWkc+fI9Rutq+ujFY2IyMEjgS1moaiBzIbzsFUUvAKIV2qKtljZ0aYgXD9oHD6KnWTeH1Hhzy+JrnzOFnTSHU8g9B0b42Av1ugqbPOLe/8Ai9HRVTyyjimbHo1aQTYEknvc7yb9ARbvVkcVH09Nw5ngb2cWtmiKJoA1EEbNY3uAuT0A3XjnvhPTYjiJnEj4JnWD3NAc19gACWkjcAAXBCycp8L6SjD3OL6mV7DGZJTyY4aS1oHmggkdT4oND7nOdpyhMwEamzkkdQC1tjbu2PsW247fg3m+PH9NqwML4K01PjbZ4qqoaGODgwFo5EHSXgXLdrEdyzsy8JoK3Enyz1VWdbi4M7Rmhl+jWuYbBA4Dn/24h+PJ9MqX5lwz3zl6op72M0T2A9xc0gH1GxVewcC6NkmplVWMcORa+MH2iNWdQUoioY4wXOEbGsDnG7iGgC5ceZNtyg5r4QZlGGZwkhqvtTJftUmr+7kYfJJ7gDqaT435BdMseCwEEEEXBB2I77qE544YUmIzdq7VDPaxljt5VuWpp2d6djtzUewngm1jNE1fUSw//iwGNp8CNbufhZBalNUski1Mc17bkXaQRcGxFx3EEKg+Cn4VKz4k38Vqs7HeHFNUYRDTMknpYIA4COB4aH69Ny/UDrN28z+Ue9RyLgRRNkDm1NW1w5EPjBHoIjQWRjp/9En/AET/AKJVNe5m87EP2H/fU/zJw6irKCCKSqq2shjEdmyj7Za3lv1NOp23NaCk4HUkU4fHVVjHD8ZkkbT7WsugmWbs50mHRMNU8tMhOhrWlzja1zYdBcbnvW1wjFIqnDWTwPD45Bdrhf5juCDsQVFeI/DuPFYYryuhkhuGvDdYLXWuC3UO4b3UgyrgEdDgMVNESWRg7u5kuJc5x9JJNkG2REQEREFZcej9zdP+sj+HKvvhLXNi4fl7jb7e5oJ5XdpAueguV5cfj9zdN+sj+FKszgpGHZELXAOa6aQEEXBB03BB6IIjmnB3MqnujJka4l3wgSSTfv36qQ8IsuHtHVkrSDuyEOFtvxpLf9I9Du9b2vyEDUgwTmOO93RPb2gt1DHag5voJcB0AUwhiDIQ1osGiwHgFhXx6Vt7QpFI3t9oiLdcXP8AxtytMzMctYG6oJ2tJcCPIc1jYy0i99wwEHxPcugFzNxwxB7+IE7HOu2BrGxt6NDo2PO3eXPNz4DuQXDwtzu7EsPkD49ElPoa9wdcPLg7ygLDT5p23581OFG8kZOp8Ow/TCCXyBvayFzjrc2++kmzR5R2AHrUkQEREBERAREQEREBERAREQEREBERAREQEREBERAREQEREBERAREQEREBERAREQEREBERAREQVrx6pXOynE9ouIqhrneDSyRl/wDE5o9arzJXEiXDsMdC2FkrS8vF3FpBIAI2BuNrroipp2yQOY9oexws5rgCCD0IKjLuHGGE/wDxI/UXfWgr08cZfzOP967+lPs5S/mcf7139KsH7G2GfmjPa760+xthn5pH7XfWgr37Ocv5nH+9d/Svh3HaUf8A04/3zv6VYn2NcL/NI/a7618nhlhX5nH7XfWgrg8e5vzKP987+hVpj2JzYnmx0mgCWqe1rWN5A2bG0XPg0brpL7GGFfmcftf/AFLPwbJNBS1YlgpY2SDk+1yL7Gxde23cg34Gy/URAREQEREBERAREQEREBERAREQEREBERAREQEREBERAREQEREBERAREQEREBERAREQEREBERAREQEREBERAREQEREBERAREQEREBERAREQEREBERAREQEREBERAREQEREBERAREQEREBERAREQEREBERAREQf/2Q==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45D70-95D8-4D8C-9C53-304491C713C7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0832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Background knowledge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Calculus (Differential equations)</a:t>
            </a:r>
          </a:p>
          <a:p>
            <a:r>
              <a:rPr lang="en-US" dirty="0"/>
              <a:t>Statistics</a:t>
            </a:r>
          </a:p>
          <a:p>
            <a:r>
              <a:rPr lang="en-US" dirty="0"/>
              <a:t>Linear Algebra </a:t>
            </a:r>
          </a:p>
          <a:p>
            <a:r>
              <a:rPr lang="en-US" dirty="0"/>
              <a:t>Matrix operations</a:t>
            </a:r>
          </a:p>
          <a:p>
            <a:r>
              <a:rPr lang="en-US" dirty="0"/>
              <a:t>Cartesian geometry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Programming languages :</a:t>
            </a:r>
            <a:r>
              <a:rPr lang="en-US" dirty="0"/>
              <a:t> Octave (</a:t>
            </a:r>
            <a:r>
              <a:rPr lang="en-US" dirty="0" err="1"/>
              <a:t>Matlab</a:t>
            </a:r>
            <a:r>
              <a:rPr lang="en-US" dirty="0"/>
              <a:t> open source), Python</a:t>
            </a:r>
          </a:p>
          <a:p>
            <a:pPr marL="0" indent="0">
              <a:buNone/>
            </a:pPr>
            <a:r>
              <a:rPr lang="en-US" b="1" dirty="0"/>
              <a:t>Tools:</a:t>
            </a:r>
            <a:r>
              <a:rPr lang="en-US" dirty="0"/>
              <a:t> </a:t>
            </a:r>
            <a:r>
              <a:rPr lang="en-US" dirty="0" err="1"/>
              <a:t>Jupyter</a:t>
            </a:r>
            <a:r>
              <a:rPr lang="en-US" dirty="0"/>
              <a:t> Notebook (Anaconda Distribution), Octave, Big ML (no-code tool)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45D70-95D8-4D8C-9C53-304491C713C7}" type="slidenum">
              <a:rPr lang="en-IN" smtClean="0"/>
              <a:t>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71907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Agenda</a:t>
            </a: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47800"/>
            <a:ext cx="7162800" cy="48768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Why ML?</a:t>
            </a:r>
          </a:p>
          <a:p>
            <a:pPr>
              <a:lnSpc>
                <a:spcPct val="150000"/>
              </a:lnSpc>
            </a:pPr>
            <a:r>
              <a:rPr lang="en-US" dirty="0"/>
              <a:t>Introduction to ML</a:t>
            </a:r>
          </a:p>
          <a:p>
            <a:pPr>
              <a:lnSpc>
                <a:spcPct val="150000"/>
              </a:lnSpc>
            </a:pPr>
            <a:r>
              <a:rPr lang="en-US" dirty="0"/>
              <a:t>Types of Machine learning</a:t>
            </a:r>
          </a:p>
          <a:p>
            <a:pPr>
              <a:lnSpc>
                <a:spcPct val="150000"/>
              </a:lnSpc>
            </a:pPr>
            <a:r>
              <a:rPr lang="en-US" dirty="0"/>
              <a:t>Common Issues and Challenges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45D70-95D8-4D8C-9C53-304491C713C7}" type="slidenum">
              <a:rPr lang="en-IN" smtClean="0"/>
              <a:t>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93243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625" y="274638"/>
            <a:ext cx="8258175" cy="65405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dirty="0"/>
              <a:t>Why now?</a:t>
            </a:r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>
          <a:xfrm>
            <a:off x="428625" y="1071563"/>
            <a:ext cx="8258175" cy="5214937"/>
          </a:xfrm>
        </p:spPr>
        <p:txBody>
          <a:bodyPr/>
          <a:lstStyle/>
          <a:p>
            <a:pPr algn="l" rtl="0" eaLnBrk="1" hangingPunct="1"/>
            <a:r>
              <a:rPr lang="en-GB" dirty="0"/>
              <a:t>Flood of available data (especially with the advent of the Internet)</a:t>
            </a:r>
          </a:p>
          <a:p>
            <a:pPr algn="l" rtl="0" eaLnBrk="1" hangingPunct="1"/>
            <a:r>
              <a:rPr lang="en-GB" dirty="0"/>
              <a:t>Increasing computational power (e.g. Multi-core)</a:t>
            </a:r>
          </a:p>
          <a:p>
            <a:pPr algn="l" rtl="0" eaLnBrk="1" hangingPunct="1"/>
            <a:r>
              <a:rPr lang="en-GB" dirty="0"/>
              <a:t>Growing progress in available algorithms and theory developed by researchers </a:t>
            </a:r>
          </a:p>
          <a:p>
            <a:pPr algn="l" rtl="0" eaLnBrk="1" hangingPunct="1"/>
            <a:r>
              <a:rPr lang="en-GB" dirty="0"/>
              <a:t>Increasing support from industries</a:t>
            </a:r>
          </a:p>
          <a:p>
            <a:pPr algn="l" rtl="0" eaLnBrk="1" hangingPunct="1"/>
            <a:r>
              <a:rPr lang="en-GB" dirty="0"/>
              <a:t>Cloud computing</a:t>
            </a:r>
          </a:p>
          <a:p>
            <a:pPr algn="l" rtl="0" eaLnBrk="1" hangingPunct="1"/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537500F-DA4A-4328-B5C3-7E3826E20C45}" type="slidenum">
              <a:rPr lang="en-GB"/>
              <a:pPr>
                <a:defRPr/>
              </a:pPr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24192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other words…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1752600"/>
            <a:ext cx="77724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/>
              <a:t>“A computer program is said to learn from experience (E) with some class of tasks (T) and a performance measure (P) if its performance at tasks in T as measured by P improves with E”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45D70-95D8-4D8C-9C53-304491C713C7}" type="slidenum">
              <a:rPr lang="en-IN" smtClean="0"/>
              <a:t>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96683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1" name="Rectangle 19"/>
          <p:cNvSpPr>
            <a:spLocks noChangeArrowheads="1"/>
          </p:cNvSpPr>
          <p:nvPr/>
        </p:nvSpPr>
        <p:spPr bwMode="auto">
          <a:xfrm>
            <a:off x="3511305" y="4876800"/>
            <a:ext cx="2667000" cy="1524000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3200" dirty="0"/>
              <a:t>Computer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768105" y="2057400"/>
            <a:ext cx="7912100" cy="4237038"/>
            <a:chOff x="685800" y="1600200"/>
            <a:chExt cx="7912100" cy="4237038"/>
          </a:xfrm>
        </p:grpSpPr>
        <p:sp>
          <p:nvSpPr>
            <p:cNvPr id="3096" name="Text Box 24"/>
            <p:cNvSpPr txBox="1">
              <a:spLocks noChangeArrowheads="1"/>
            </p:cNvSpPr>
            <p:nvPr/>
          </p:nvSpPr>
          <p:spPr bwMode="auto">
            <a:xfrm>
              <a:off x="1066800" y="5257800"/>
              <a:ext cx="1401763" cy="5794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3200" dirty="0"/>
                <a:t>Output</a:t>
              </a:r>
            </a:p>
          </p:txBody>
        </p:sp>
        <p:sp>
          <p:nvSpPr>
            <p:cNvPr id="3076" name="Rectangle 4"/>
            <p:cNvSpPr>
              <a:spLocks noChangeArrowheads="1"/>
            </p:cNvSpPr>
            <p:nvPr/>
          </p:nvSpPr>
          <p:spPr bwMode="auto">
            <a:xfrm>
              <a:off x="3352800" y="1600200"/>
              <a:ext cx="2667000" cy="1524000"/>
            </a:xfrm>
            <a:prstGeom prst="rect">
              <a:avLst/>
            </a:prstGeom>
            <a:solidFill>
              <a:schemeClr val="accent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3200" dirty="0"/>
                <a:t>Computer</a:t>
              </a:r>
            </a:p>
          </p:txBody>
        </p:sp>
        <p:sp>
          <p:nvSpPr>
            <p:cNvPr id="3078" name="Line 6"/>
            <p:cNvSpPr>
              <a:spLocks noChangeShapeType="1"/>
            </p:cNvSpPr>
            <p:nvPr/>
          </p:nvSpPr>
          <p:spPr bwMode="auto">
            <a:xfrm>
              <a:off x="2438400" y="2057400"/>
              <a:ext cx="9144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79" name="Line 7"/>
            <p:cNvSpPr>
              <a:spLocks noChangeShapeType="1"/>
            </p:cNvSpPr>
            <p:nvPr/>
          </p:nvSpPr>
          <p:spPr bwMode="auto">
            <a:xfrm>
              <a:off x="2438400" y="2743200"/>
              <a:ext cx="9144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80" name="Line 8"/>
            <p:cNvSpPr>
              <a:spLocks noChangeShapeType="1"/>
            </p:cNvSpPr>
            <p:nvPr/>
          </p:nvSpPr>
          <p:spPr bwMode="auto">
            <a:xfrm>
              <a:off x="6019800" y="2286000"/>
              <a:ext cx="7620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82" name="Text Box 10"/>
            <p:cNvSpPr txBox="1">
              <a:spLocks noChangeArrowheads="1"/>
            </p:cNvSpPr>
            <p:nvPr/>
          </p:nvSpPr>
          <p:spPr bwMode="auto">
            <a:xfrm>
              <a:off x="1355725" y="1692275"/>
              <a:ext cx="1041400" cy="5794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3200" dirty="0"/>
                <a:t>Data</a:t>
              </a:r>
            </a:p>
          </p:txBody>
        </p:sp>
        <p:sp>
          <p:nvSpPr>
            <p:cNvPr id="3083" name="Text Box 11"/>
            <p:cNvSpPr txBox="1">
              <a:spLocks noChangeArrowheads="1"/>
            </p:cNvSpPr>
            <p:nvPr/>
          </p:nvSpPr>
          <p:spPr bwMode="auto">
            <a:xfrm>
              <a:off x="685800" y="2362200"/>
              <a:ext cx="1739900" cy="5794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3200" dirty="0"/>
                <a:t>Program</a:t>
              </a:r>
            </a:p>
          </p:txBody>
        </p:sp>
        <p:sp>
          <p:nvSpPr>
            <p:cNvPr id="3084" name="Text Box 12"/>
            <p:cNvSpPr txBox="1">
              <a:spLocks noChangeArrowheads="1"/>
            </p:cNvSpPr>
            <p:nvPr/>
          </p:nvSpPr>
          <p:spPr bwMode="auto">
            <a:xfrm>
              <a:off x="6781800" y="1981200"/>
              <a:ext cx="1401763" cy="5794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3200" dirty="0"/>
                <a:t>Output</a:t>
              </a:r>
            </a:p>
          </p:txBody>
        </p:sp>
        <p:sp>
          <p:nvSpPr>
            <p:cNvPr id="3092" name="Line 20"/>
            <p:cNvSpPr>
              <a:spLocks noChangeShapeType="1"/>
            </p:cNvSpPr>
            <p:nvPr/>
          </p:nvSpPr>
          <p:spPr bwMode="auto">
            <a:xfrm>
              <a:off x="2514600" y="4876800"/>
              <a:ext cx="9144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93" name="Line 21"/>
            <p:cNvSpPr>
              <a:spLocks noChangeShapeType="1"/>
            </p:cNvSpPr>
            <p:nvPr/>
          </p:nvSpPr>
          <p:spPr bwMode="auto">
            <a:xfrm>
              <a:off x="2514600" y="5562600"/>
              <a:ext cx="9144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94" name="Line 22"/>
            <p:cNvSpPr>
              <a:spLocks noChangeShapeType="1"/>
            </p:cNvSpPr>
            <p:nvPr/>
          </p:nvSpPr>
          <p:spPr bwMode="auto">
            <a:xfrm>
              <a:off x="6096000" y="5105400"/>
              <a:ext cx="7620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95" name="Text Box 23"/>
            <p:cNvSpPr txBox="1">
              <a:spLocks noChangeArrowheads="1"/>
            </p:cNvSpPr>
            <p:nvPr/>
          </p:nvSpPr>
          <p:spPr bwMode="auto">
            <a:xfrm>
              <a:off x="1431925" y="4511675"/>
              <a:ext cx="1041400" cy="5794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3200" dirty="0"/>
                <a:t>Data</a:t>
              </a:r>
            </a:p>
          </p:txBody>
        </p:sp>
        <p:sp>
          <p:nvSpPr>
            <p:cNvPr id="3097" name="Text Box 25"/>
            <p:cNvSpPr txBox="1">
              <a:spLocks noChangeArrowheads="1"/>
            </p:cNvSpPr>
            <p:nvPr/>
          </p:nvSpPr>
          <p:spPr bwMode="auto">
            <a:xfrm>
              <a:off x="6858000" y="4800600"/>
              <a:ext cx="1739900" cy="5794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3200" dirty="0"/>
                <a:t>Program</a:t>
              </a: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91810" y="136159"/>
            <a:ext cx="729962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ML vs Traditional programming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71255" y="1225995"/>
            <a:ext cx="8305800" cy="5181600"/>
          </a:xfrm>
        </p:spPr>
        <p:txBody>
          <a:bodyPr/>
          <a:lstStyle/>
          <a:p>
            <a:pPr>
              <a:buFontTx/>
              <a:buNone/>
            </a:pPr>
            <a:r>
              <a:rPr lang="en-US" b="1" dirty="0">
                <a:solidFill>
                  <a:schemeClr val="accent2"/>
                </a:solidFill>
              </a:rPr>
              <a:t>  Traditional Programming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b="1" dirty="0">
              <a:solidFill>
                <a:schemeClr val="accent2"/>
              </a:solidFill>
            </a:endParaRPr>
          </a:p>
          <a:p>
            <a:pPr>
              <a:buFontTx/>
              <a:buNone/>
            </a:pPr>
            <a:r>
              <a:rPr lang="en-US" b="1" dirty="0">
                <a:solidFill>
                  <a:schemeClr val="accent2"/>
                </a:solidFill>
              </a:rPr>
              <a:t>  Machine Learning</a:t>
            </a:r>
          </a:p>
        </p:txBody>
      </p:sp>
      <p:sp>
        <p:nvSpPr>
          <p:cNvPr id="19" name="Text Box 23"/>
          <p:cNvSpPr txBox="1">
            <a:spLocks noChangeArrowheads="1"/>
          </p:cNvSpPr>
          <p:nvPr/>
        </p:nvSpPr>
        <p:spPr bwMode="auto">
          <a:xfrm>
            <a:off x="4572000" y="3886200"/>
            <a:ext cx="337502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3200" dirty="0"/>
              <a:t>Learning Algorithm</a:t>
            </a:r>
          </a:p>
        </p:txBody>
      </p:sp>
      <p:sp>
        <p:nvSpPr>
          <p:cNvPr id="20" name="Line 20"/>
          <p:cNvSpPr>
            <a:spLocks noChangeShapeType="1"/>
          </p:cNvSpPr>
          <p:nvPr/>
        </p:nvSpPr>
        <p:spPr bwMode="auto">
          <a:xfrm>
            <a:off x="5568705" y="4419600"/>
            <a:ext cx="0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45D70-95D8-4D8C-9C53-304491C713C7}" type="slidenum">
              <a:rPr lang="en-IN" smtClean="0"/>
              <a:t>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18190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rtl="0"/>
            <a:r>
              <a:rPr lang="en-US" dirty="0"/>
              <a:t>Motivating Example</a:t>
            </a:r>
            <a:br>
              <a:rPr lang="en-US" dirty="0"/>
            </a:br>
            <a:r>
              <a:rPr lang="en-US" dirty="0"/>
              <a:t>Learning to Filter Spam</a:t>
            </a:r>
            <a:endParaRPr lang="he-I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 rtl="0"/>
            <a:endParaRPr lang="en-US" dirty="0"/>
          </a:p>
          <a:p>
            <a:pPr algn="l" rtl="0"/>
            <a:endParaRPr lang="en-US" dirty="0"/>
          </a:p>
          <a:p>
            <a:pPr algn="l" rtl="0"/>
            <a:endParaRPr lang="en-US" dirty="0"/>
          </a:p>
          <a:p>
            <a:pPr algn="l" rtl="0"/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7415" y="2484011"/>
            <a:ext cx="2881089" cy="27451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107504" y="1700808"/>
            <a:ext cx="6552728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en-GB" sz="3200" b="1" dirty="0"/>
              <a:t>Example</a:t>
            </a:r>
            <a:r>
              <a:rPr lang="en-GB" sz="3200" dirty="0"/>
              <a:t>: Spam Filtering</a:t>
            </a:r>
          </a:p>
          <a:p>
            <a:pPr algn="l" rtl="0"/>
            <a:r>
              <a:rPr lang="en-US" sz="3200" dirty="0"/>
              <a:t>Spam - is all email the user does not want to receive and has not asked to receive</a:t>
            </a:r>
          </a:p>
          <a:p>
            <a:pPr lvl="1" algn="l" rtl="0"/>
            <a:r>
              <a:rPr lang="en-GB" sz="2800" i="1" dirty="0"/>
              <a:t>T</a:t>
            </a:r>
            <a:r>
              <a:rPr lang="en-GB" sz="2800" dirty="0"/>
              <a:t>: Identify Spam Emails</a:t>
            </a:r>
          </a:p>
          <a:p>
            <a:pPr lvl="1" algn="l" rtl="0"/>
            <a:r>
              <a:rPr lang="en-GB" sz="2800" i="1" dirty="0"/>
              <a:t>P</a:t>
            </a:r>
            <a:r>
              <a:rPr lang="en-GB" sz="2800" dirty="0"/>
              <a:t>: </a:t>
            </a:r>
          </a:p>
          <a:p>
            <a:pPr lvl="2" algn="l" rtl="0"/>
            <a:r>
              <a:rPr lang="en-GB" sz="2800" dirty="0"/>
              <a:t>% of spam emails that were filtered</a:t>
            </a:r>
          </a:p>
          <a:p>
            <a:pPr lvl="2" algn="l" rtl="0"/>
            <a:r>
              <a:rPr lang="en-GB" sz="2800" dirty="0"/>
              <a:t>% of ham/ (non-spam) emails that were incorrectly filtered-out</a:t>
            </a:r>
          </a:p>
          <a:p>
            <a:pPr lvl="1" algn="l" rtl="0"/>
            <a:r>
              <a:rPr lang="en-GB" sz="2800" i="1" dirty="0"/>
              <a:t>E</a:t>
            </a:r>
            <a:r>
              <a:rPr lang="en-GB" sz="2800" dirty="0"/>
              <a:t>: a database of emails that were labelled by users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45D70-95D8-4D8C-9C53-304491C713C7}" type="slidenum">
              <a:rPr lang="en-IN" smtClean="0"/>
              <a:t>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3192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Terminology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334000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Features</a:t>
            </a:r>
          </a:p>
          <a:p>
            <a:pPr lvl="1"/>
            <a:r>
              <a:rPr lang="en-US" dirty="0"/>
              <a:t>The number of features or distinct traits that can be used to describe each item in a quantitative manner.</a:t>
            </a:r>
          </a:p>
          <a:p>
            <a:r>
              <a:rPr lang="en-US" dirty="0"/>
              <a:t>Samples</a:t>
            </a:r>
          </a:p>
          <a:p>
            <a:pPr lvl="1"/>
            <a:r>
              <a:rPr lang="en-US" dirty="0"/>
              <a:t>A sample is an item to process (e.g. classify). It can be a document, a picture, a sound, a video, a row in database or CSV file, or whatever you can describe with a fixed set of quantitative traits.</a:t>
            </a:r>
          </a:p>
          <a:p>
            <a:r>
              <a:rPr lang="en-US" dirty="0"/>
              <a:t>Feature vector </a:t>
            </a:r>
          </a:p>
          <a:p>
            <a:pPr lvl="1"/>
            <a:r>
              <a:rPr lang="en-US" dirty="0"/>
              <a:t>is an n-dimensional vector of numerical features that represent some object.</a:t>
            </a:r>
          </a:p>
          <a:p>
            <a:r>
              <a:rPr lang="en-US" dirty="0"/>
              <a:t>Feature extraction</a:t>
            </a:r>
          </a:p>
          <a:p>
            <a:pPr lvl="1"/>
            <a:r>
              <a:rPr lang="en-US" dirty="0"/>
              <a:t>Preparation of feature vector</a:t>
            </a:r>
          </a:p>
          <a:p>
            <a:pPr lvl="1"/>
            <a:r>
              <a:rPr lang="en-US" dirty="0"/>
              <a:t> transforms the data in the high-dimensional space to a space of fewer </a:t>
            </a:r>
            <a:r>
              <a:rPr lang="en-US" u="sng" dirty="0"/>
              <a:t>dimensions</a:t>
            </a:r>
            <a:r>
              <a:rPr lang="en-US" dirty="0"/>
              <a:t>.</a:t>
            </a:r>
          </a:p>
          <a:p>
            <a:r>
              <a:rPr lang="en-US" dirty="0"/>
              <a:t>Training/Evolution set </a:t>
            </a:r>
          </a:p>
          <a:p>
            <a:pPr lvl="1"/>
            <a:r>
              <a:rPr lang="en-US" dirty="0"/>
              <a:t>Set of data to discover potentially predictive relationships. 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45D70-95D8-4D8C-9C53-304491C713C7}" type="slidenum">
              <a:rPr lang="en-IN" smtClean="0"/>
              <a:t>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17508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Learning Process</a:t>
            </a:r>
            <a:endParaRPr lang="he-I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596" y="1844824"/>
            <a:ext cx="8851900" cy="2947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5436096" y="2132856"/>
            <a:ext cx="1368152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1">
            <a:spAutoFit/>
          </a:bodyPr>
          <a:lstStyle/>
          <a:p>
            <a:r>
              <a:rPr lang="en-US" sz="1200" b="1" dirty="0">
                <a:latin typeface="Aharoni" pitchFamily="2" charset="-79"/>
                <a:cs typeface="Aharoni" pitchFamily="2" charset="-79"/>
              </a:rPr>
              <a:t>Model Learning</a:t>
            </a:r>
            <a:endParaRPr lang="he-IL" sz="1200" b="1" dirty="0">
              <a:latin typeface="Aharoni" pitchFamily="2" charset="-79"/>
              <a:cs typeface="Aharoni" pitchFamily="2" charset="-79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76256" y="2062009"/>
            <a:ext cx="792088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1">
            <a:spAutoFit/>
          </a:bodyPr>
          <a:lstStyle/>
          <a:p>
            <a:r>
              <a:rPr lang="en-US" sz="1200" b="1" dirty="0">
                <a:latin typeface="Aharoni" pitchFamily="2" charset="-79"/>
                <a:cs typeface="Aharoni" pitchFamily="2" charset="-79"/>
              </a:rPr>
              <a:t>Model Testing</a:t>
            </a:r>
            <a:endParaRPr lang="he-IL" sz="1200" b="1" dirty="0">
              <a:latin typeface="Aharoni" pitchFamily="2" charset="-79"/>
              <a:cs typeface="Aharoni" pitchFamily="2" charset="-79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45D70-95D8-4D8C-9C53-304491C713C7}" type="slidenum">
              <a:rPr lang="en-IN" smtClean="0"/>
              <a:t>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2032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Learning Process in our Example</a:t>
            </a:r>
            <a:endParaRPr lang="he-I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596" y="1844824"/>
            <a:ext cx="8851900" cy="2947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6" name="Picture 2" descr="C:\Users\Administrator\AppData\Local\Microsoft\Windows\Temporary Internet Files\Content.IE5\TL91YHLD\MC900434845[1]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4851641"/>
            <a:ext cx="1210359" cy="12103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475656" y="6084004"/>
            <a:ext cx="1728192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dirty="0"/>
              <a:t>Email Server</a:t>
            </a:r>
            <a:endParaRPr lang="he-IL" dirty="0"/>
          </a:p>
        </p:txBody>
      </p:sp>
      <p:sp>
        <p:nvSpPr>
          <p:cNvPr id="6" name="Up-Down Arrow 5"/>
          <p:cNvSpPr/>
          <p:nvPr/>
        </p:nvSpPr>
        <p:spPr>
          <a:xfrm>
            <a:off x="2267744" y="3573016"/>
            <a:ext cx="360040" cy="1147788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7" name="TextBox 6"/>
          <p:cNvSpPr txBox="1"/>
          <p:nvPr/>
        </p:nvSpPr>
        <p:spPr>
          <a:xfrm>
            <a:off x="3200629" y="4815799"/>
            <a:ext cx="2520280" cy="1569660"/>
          </a:xfrm>
          <a:prstGeom prst="rect">
            <a:avLst/>
          </a:prstGeom>
          <a:noFill/>
          <a:ln>
            <a:solidFill>
              <a:schemeClr val="tx2">
                <a:satMod val="155000"/>
              </a:schemeClr>
            </a:solidFill>
          </a:ln>
          <a:effectLst>
            <a:outerShdw blurRad="50800" dist="50800" dir="5400000" algn="ctr" rotWithShape="0">
              <a:schemeClr val="tx1"/>
            </a:outerShdw>
          </a:effectLst>
        </p:spPr>
        <p:txBody>
          <a:bodyPr wrap="square" rtlCol="1">
            <a:spAutoFit/>
          </a:bodyPr>
          <a:lstStyle/>
          <a:p>
            <a:pPr algn="l" rtl="0"/>
            <a:r>
              <a:rPr lang="en-US" sz="1600" dirty="0"/>
              <a:t>● Number of recipients </a:t>
            </a:r>
          </a:p>
          <a:p>
            <a:pPr algn="l" rtl="0"/>
            <a:r>
              <a:rPr lang="en-US" sz="1600" dirty="0"/>
              <a:t>● Size of message</a:t>
            </a:r>
          </a:p>
          <a:p>
            <a:pPr algn="l" rtl="0"/>
            <a:r>
              <a:rPr lang="en-US" sz="1600" dirty="0"/>
              <a:t>● Number of attachments</a:t>
            </a:r>
          </a:p>
          <a:p>
            <a:pPr algn="l" rtl="0"/>
            <a:r>
              <a:rPr lang="en-US" sz="1600" dirty="0"/>
              <a:t>● Number of "</a:t>
            </a:r>
            <a:r>
              <a:rPr lang="en-US" sz="1600" dirty="0" err="1"/>
              <a:t>re's</a:t>
            </a:r>
            <a:r>
              <a:rPr lang="en-US" sz="1600" dirty="0"/>
              <a:t>" in the subject line</a:t>
            </a:r>
          </a:p>
          <a:p>
            <a:pPr algn="l" rtl="0"/>
            <a:r>
              <a:rPr lang="en-US" sz="1600" dirty="0"/>
              <a:t>…</a:t>
            </a:r>
            <a:endParaRPr lang="he-IL" sz="1600" dirty="0"/>
          </a:p>
        </p:txBody>
      </p:sp>
      <p:sp>
        <p:nvSpPr>
          <p:cNvPr id="9" name="Up-Down Arrow 8"/>
          <p:cNvSpPr/>
          <p:nvPr/>
        </p:nvSpPr>
        <p:spPr>
          <a:xfrm>
            <a:off x="3563888" y="3573016"/>
            <a:ext cx="360040" cy="1147788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0" name="TextBox 9"/>
          <p:cNvSpPr txBox="1"/>
          <p:nvPr/>
        </p:nvSpPr>
        <p:spPr>
          <a:xfrm>
            <a:off x="5436096" y="2132856"/>
            <a:ext cx="1368152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1">
            <a:spAutoFit/>
          </a:bodyPr>
          <a:lstStyle/>
          <a:p>
            <a:r>
              <a:rPr lang="en-US" sz="1200" b="1" dirty="0">
                <a:latin typeface="Aharoni" pitchFamily="2" charset="-79"/>
                <a:cs typeface="Aharoni" pitchFamily="2" charset="-79"/>
              </a:rPr>
              <a:t>Model Learning</a:t>
            </a:r>
            <a:endParaRPr lang="he-IL" sz="1200" b="1" dirty="0">
              <a:latin typeface="Aharoni" pitchFamily="2" charset="-79"/>
              <a:cs typeface="Aharoni" pitchFamily="2" charset="-79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876256" y="2062009"/>
            <a:ext cx="792088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1">
            <a:spAutoFit/>
          </a:bodyPr>
          <a:lstStyle/>
          <a:p>
            <a:r>
              <a:rPr lang="en-US" sz="1200" b="1" dirty="0">
                <a:latin typeface="Aharoni" pitchFamily="2" charset="-79"/>
                <a:cs typeface="Aharoni" pitchFamily="2" charset="-79"/>
              </a:rPr>
              <a:t>Model Testing</a:t>
            </a:r>
            <a:endParaRPr lang="he-IL" sz="1200" b="1" dirty="0">
              <a:latin typeface="Aharoni" pitchFamily="2" charset="-79"/>
              <a:cs typeface="Aharoni" pitchFamily="2" charset="-79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45D70-95D8-4D8C-9C53-304491C713C7}" type="slidenum">
              <a:rPr lang="en-IN" smtClean="0"/>
              <a:t>10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768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Set</a:t>
            </a:r>
            <a:endParaRPr lang="he-IL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0922137"/>
              </p:ext>
            </p:extLst>
          </p:nvPr>
        </p:nvGraphicFramePr>
        <p:xfrm>
          <a:off x="1547664" y="2492896"/>
          <a:ext cx="6096000" cy="351028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Email</a:t>
                      </a:r>
                      <a:r>
                        <a:rPr lang="en-US" baseline="0" dirty="0"/>
                        <a:t> Type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Customer</a:t>
                      </a:r>
                      <a:r>
                        <a:rPr lang="en-US" baseline="0" dirty="0"/>
                        <a:t> Type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Country (IP)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Email Length (K)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Number of new Recipients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Ham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Gold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Germany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2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0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Ham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Silver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Germany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4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1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Spam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Bronze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Nigeria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2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5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Spam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Bronze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Russia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4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2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Ham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Bronze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Germany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4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3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Ham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Silver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USA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1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0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Spam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Silver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USA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2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4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Left Brace 5"/>
          <p:cNvSpPr/>
          <p:nvPr/>
        </p:nvSpPr>
        <p:spPr>
          <a:xfrm rot="5400000">
            <a:off x="6948264" y="1794163"/>
            <a:ext cx="288032" cy="1008112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7" name="TextBox 6"/>
          <p:cNvSpPr txBox="1"/>
          <p:nvPr/>
        </p:nvSpPr>
        <p:spPr>
          <a:xfrm>
            <a:off x="3099792" y="1475492"/>
            <a:ext cx="1728192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 rtl="0"/>
            <a:r>
              <a:rPr lang="en-US" dirty="0"/>
              <a:t>Input Attributes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4208" y="1336992"/>
            <a:ext cx="1368152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dirty="0"/>
              <a:t>Target Attribute</a:t>
            </a:r>
            <a:endParaRPr lang="he-IL" dirty="0"/>
          </a:p>
        </p:txBody>
      </p:sp>
      <p:sp>
        <p:nvSpPr>
          <p:cNvPr id="9" name="Left Brace 8"/>
          <p:cNvSpPr/>
          <p:nvPr/>
        </p:nvSpPr>
        <p:spPr>
          <a:xfrm rot="5400000">
            <a:off x="3707904" y="-91008"/>
            <a:ext cx="576064" cy="475252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3399839"/>
            <a:ext cx="432048" cy="3892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3759879"/>
            <a:ext cx="432048" cy="3892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4149080"/>
            <a:ext cx="432048" cy="3892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4522768"/>
            <a:ext cx="432048" cy="3892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4912007"/>
            <a:ext cx="432048" cy="3892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5285695"/>
            <a:ext cx="432048" cy="3892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5704095"/>
            <a:ext cx="432048" cy="3892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" name="TextBox 17"/>
          <p:cNvSpPr txBox="1"/>
          <p:nvPr/>
        </p:nvSpPr>
        <p:spPr>
          <a:xfrm rot="16200000">
            <a:off x="-293186" y="4468470"/>
            <a:ext cx="1296144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 rtl="0"/>
            <a:r>
              <a:rPr lang="en-US" dirty="0"/>
              <a:t>Instances</a:t>
            </a:r>
            <a:endParaRPr lang="he-IL" dirty="0"/>
          </a:p>
        </p:txBody>
      </p:sp>
      <p:sp>
        <p:nvSpPr>
          <p:cNvPr id="19" name="Left Brace 18"/>
          <p:cNvSpPr/>
          <p:nvPr/>
        </p:nvSpPr>
        <p:spPr>
          <a:xfrm>
            <a:off x="539552" y="3399838"/>
            <a:ext cx="576064" cy="262144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0" name="TextBox 19"/>
          <p:cNvSpPr txBox="1"/>
          <p:nvPr/>
        </p:nvSpPr>
        <p:spPr>
          <a:xfrm>
            <a:off x="2267744" y="6381328"/>
            <a:ext cx="1008112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Numeric</a:t>
            </a:r>
            <a:endParaRPr lang="he-IL" dirty="0"/>
          </a:p>
        </p:txBody>
      </p:sp>
      <p:cxnSp>
        <p:nvCxnSpPr>
          <p:cNvPr id="22" name="Straight Arrow Connector 21"/>
          <p:cNvCxnSpPr>
            <a:stCxn id="20" idx="0"/>
          </p:cNvCxnSpPr>
          <p:nvPr/>
        </p:nvCxnSpPr>
        <p:spPr>
          <a:xfrm flipH="1" flipV="1">
            <a:off x="2267744" y="6021287"/>
            <a:ext cx="504056" cy="36004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20" idx="0"/>
          </p:cNvCxnSpPr>
          <p:nvPr/>
        </p:nvCxnSpPr>
        <p:spPr>
          <a:xfrm flipV="1">
            <a:off x="2771800" y="6093296"/>
            <a:ext cx="504056" cy="2880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110316" y="6381328"/>
            <a:ext cx="1008112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Nominal</a:t>
            </a:r>
            <a:endParaRPr lang="he-IL" dirty="0"/>
          </a:p>
        </p:txBody>
      </p:sp>
      <p:sp>
        <p:nvSpPr>
          <p:cNvPr id="29" name="TextBox 28"/>
          <p:cNvSpPr txBox="1"/>
          <p:nvPr/>
        </p:nvSpPr>
        <p:spPr>
          <a:xfrm>
            <a:off x="5292080" y="6427781"/>
            <a:ext cx="1008112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Ordinal</a:t>
            </a:r>
          </a:p>
          <a:p>
            <a:endParaRPr lang="he-IL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45D70-95D8-4D8C-9C53-304491C713C7}" type="slidenum">
              <a:rPr lang="en-IN" smtClean="0"/>
              <a:t>11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43472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/>
      <p:bldP spid="9" grpId="0" animBg="1"/>
      <p:bldP spid="18" grpId="0"/>
      <p:bldP spid="19" grpId="0" animBg="1"/>
      <p:bldP spid="20" grpId="0"/>
      <p:bldP spid="27" grpId="0"/>
      <p:bldP spid="2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en-US" dirty="0"/>
              <a:t>Model Learning</a:t>
            </a:r>
            <a:endParaRPr lang="he-I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695438"/>
            <a:ext cx="8229600" cy="1257003"/>
          </a:xfrm>
        </p:spPr>
        <p:txBody>
          <a:bodyPr>
            <a:normAutofit/>
          </a:bodyPr>
          <a:lstStyle/>
          <a:p>
            <a:pPr lvl="1" algn="l" rtl="0"/>
            <a:endParaRPr lang="en-US" dirty="0"/>
          </a:p>
          <a:p>
            <a:pPr lvl="1" algn="l" rtl="0"/>
            <a:endParaRPr lang="he-IL" dirty="0"/>
          </a:p>
        </p:txBody>
      </p:sp>
      <p:sp>
        <p:nvSpPr>
          <p:cNvPr id="4" name="Flowchart: Magnetic Disk 3"/>
          <p:cNvSpPr/>
          <p:nvPr/>
        </p:nvSpPr>
        <p:spPr>
          <a:xfrm>
            <a:off x="467544" y="2636912"/>
            <a:ext cx="1512168" cy="1728192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5" name="TextBox 4"/>
          <p:cNvSpPr txBox="1"/>
          <p:nvPr/>
        </p:nvSpPr>
        <p:spPr>
          <a:xfrm>
            <a:off x="35496" y="4650758"/>
            <a:ext cx="2376264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dirty="0"/>
              <a:t>Database</a:t>
            </a:r>
          </a:p>
          <a:p>
            <a:pPr algn="ctr"/>
            <a:r>
              <a:rPr lang="en-US" dirty="0"/>
              <a:t>Training Set</a:t>
            </a:r>
            <a:endParaRPr lang="he-IL" dirty="0"/>
          </a:p>
        </p:txBody>
      </p:sp>
      <p:sp>
        <p:nvSpPr>
          <p:cNvPr id="6" name="Right Arrow 5"/>
          <p:cNvSpPr/>
          <p:nvPr/>
        </p:nvSpPr>
        <p:spPr>
          <a:xfrm>
            <a:off x="2123728" y="3180892"/>
            <a:ext cx="1512168" cy="72008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pic>
        <p:nvPicPr>
          <p:cNvPr id="7" name="Picture 34" descr="trainingIc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3908" y="2755276"/>
            <a:ext cx="1728192" cy="17281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37" descr="BayesNetwork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304" y="2791492"/>
            <a:ext cx="1224136" cy="1715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3419872" y="4507041"/>
            <a:ext cx="2376264" cy="92333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0"/>
            <a:r>
              <a:rPr lang="en-US" dirty="0"/>
              <a:t>Learner</a:t>
            </a:r>
          </a:p>
          <a:p>
            <a:pPr algn="ctr" rtl="0"/>
            <a:r>
              <a:rPr lang="en-US" dirty="0"/>
              <a:t>Inducer</a:t>
            </a:r>
          </a:p>
          <a:p>
            <a:pPr algn="ctr" rtl="0"/>
            <a:r>
              <a:rPr lang="en-US" dirty="0"/>
              <a:t>Induction Algorithm</a:t>
            </a:r>
            <a:endParaRPr lang="he-IL" dirty="0"/>
          </a:p>
        </p:txBody>
      </p:sp>
      <p:sp>
        <p:nvSpPr>
          <p:cNvPr id="10" name="TextBox 9"/>
          <p:cNvSpPr txBox="1"/>
          <p:nvPr/>
        </p:nvSpPr>
        <p:spPr>
          <a:xfrm>
            <a:off x="6588224" y="4545883"/>
            <a:ext cx="2376264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0"/>
            <a:r>
              <a:rPr lang="en-US" dirty="0"/>
              <a:t>Classifier</a:t>
            </a:r>
          </a:p>
          <a:p>
            <a:pPr algn="ctr" rtl="0"/>
            <a:r>
              <a:rPr lang="en-US" dirty="0"/>
              <a:t>Classification Model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652120" y="3140968"/>
            <a:ext cx="1512168" cy="72008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45D70-95D8-4D8C-9C53-304491C713C7}" type="slidenum">
              <a:rPr lang="en-IN" smtClean="0"/>
              <a:t>12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4428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animBg="1"/>
      <p:bldP spid="9" grpId="0"/>
      <p:bldP spid="10" grpId="0"/>
      <p:bldP spid="1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en-US" dirty="0"/>
              <a:t>Model Testing</a:t>
            </a:r>
            <a:endParaRPr lang="he-IL" dirty="0"/>
          </a:p>
        </p:txBody>
      </p:sp>
      <p:sp>
        <p:nvSpPr>
          <p:cNvPr id="4" name="Flowchart: Magnetic Disk 3"/>
          <p:cNvSpPr/>
          <p:nvPr/>
        </p:nvSpPr>
        <p:spPr>
          <a:xfrm>
            <a:off x="467544" y="2668996"/>
            <a:ext cx="1512168" cy="1728192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5" name="TextBox 4"/>
          <p:cNvSpPr txBox="1"/>
          <p:nvPr/>
        </p:nvSpPr>
        <p:spPr>
          <a:xfrm>
            <a:off x="35496" y="4509120"/>
            <a:ext cx="2376264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dirty="0"/>
              <a:t>Database</a:t>
            </a:r>
          </a:p>
          <a:p>
            <a:pPr algn="ctr"/>
            <a:r>
              <a:rPr lang="en-US" dirty="0"/>
              <a:t>Training Set</a:t>
            </a:r>
            <a:endParaRPr lang="he-IL" dirty="0"/>
          </a:p>
        </p:txBody>
      </p:sp>
      <p:sp>
        <p:nvSpPr>
          <p:cNvPr id="6" name="Right Arrow 5"/>
          <p:cNvSpPr/>
          <p:nvPr/>
        </p:nvSpPr>
        <p:spPr>
          <a:xfrm>
            <a:off x="2123728" y="3212976"/>
            <a:ext cx="1512168" cy="72008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pic>
        <p:nvPicPr>
          <p:cNvPr id="7" name="Picture 34" descr="trainingIc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3908" y="2787360"/>
            <a:ext cx="1728192" cy="17281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37" descr="BayesNetwork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304" y="2823576"/>
            <a:ext cx="1224136" cy="1715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3419872" y="4539125"/>
            <a:ext cx="2376264" cy="92333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0"/>
            <a:r>
              <a:rPr lang="en-US" dirty="0"/>
              <a:t>Learner</a:t>
            </a:r>
          </a:p>
          <a:p>
            <a:pPr algn="ctr" rtl="0"/>
            <a:r>
              <a:rPr lang="en-US" dirty="0"/>
              <a:t>Inducer</a:t>
            </a:r>
          </a:p>
          <a:p>
            <a:pPr algn="ctr" rtl="0"/>
            <a:r>
              <a:rPr lang="en-US" dirty="0"/>
              <a:t>Induction Algorithm</a:t>
            </a:r>
            <a:endParaRPr lang="he-IL" dirty="0"/>
          </a:p>
        </p:txBody>
      </p:sp>
      <p:sp>
        <p:nvSpPr>
          <p:cNvPr id="10" name="TextBox 9"/>
          <p:cNvSpPr txBox="1"/>
          <p:nvPr/>
        </p:nvSpPr>
        <p:spPr>
          <a:xfrm>
            <a:off x="6588224" y="4942909"/>
            <a:ext cx="2376264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0"/>
            <a:r>
              <a:rPr lang="en-US" dirty="0"/>
              <a:t>Classifier</a:t>
            </a:r>
          </a:p>
          <a:p>
            <a:pPr algn="ctr" rtl="0"/>
            <a:r>
              <a:rPr lang="en-US" dirty="0"/>
              <a:t>Classification Model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652120" y="3173052"/>
            <a:ext cx="1512168" cy="72008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738" y="1340768"/>
            <a:ext cx="1152525" cy="1038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5104" y="3289750"/>
            <a:ext cx="813792" cy="783199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>
                <a:alpha val="5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3902" y="5749745"/>
            <a:ext cx="960026" cy="11356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936" y="1412775"/>
            <a:ext cx="1152525" cy="1038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6" name="Picture 8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773" y="5749744"/>
            <a:ext cx="1046411" cy="11356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45D70-95D8-4D8C-9C53-304491C713C7}" type="slidenum">
              <a:rPr lang="en-IN" smtClean="0"/>
              <a:t>13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75994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6" dur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7" dur="indefinite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9" dur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0" dur="indefinite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2" dur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3" dur="indefinite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5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6" dur="indefinite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8" dur="indefinite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9" dur="indefinite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21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22" dur="indefinite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6" dur="2000" fill="hold"/>
                                        <p:tgtEl>
                                          <p:spTgt spid="8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8" dur="2000" fill="hold"/>
                                        <p:tgtEl>
                                          <p:spTgt spid="10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4.44444E-6 L -0.36615 0.00509 " pathEditMode="relative" rAng="0" ptsTypes="AA">
                                      <p:cBhvr>
                                        <p:cTn id="42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316" y="255"/>
                                    </p:animMotion>
                                  </p:childTnLst>
                                </p:cTn>
                              </p:par>
                              <p:par>
                                <p:cTn id="43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-4.07407E-6 L -0.35035 -0.00532 " pathEditMode="relative" rAng="0" ptsTypes="AA">
                                      <p:cBhvr>
                                        <p:cTn id="44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517" y="-2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55" dur="2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.0051 L -0.11806 0.28334 " pathEditMode="relative" rAng="0" ptsTypes="AA">
                                      <p:cBhvr>
                                        <p:cTn id="69" dur="2000" fill="hold"/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903" y="1391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84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.26018 L 0.11024 0.575 " pathEditMode="relative" rAng="0" ptsTypes="AA">
                                      <p:cBhvr>
                                        <p:cTn id="88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503" y="1574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5" grpId="0"/>
      <p:bldP spid="5" grpId="1"/>
      <p:bldP spid="6" grpId="0" animBg="1"/>
      <p:bldP spid="6" grpId="1" animBg="1"/>
      <p:bldP spid="9" grpId="0"/>
      <p:bldP spid="9" grpId="1"/>
      <p:bldP spid="10" grpId="0"/>
      <p:bldP spid="10" grpId="1"/>
      <p:bldP spid="11" grpId="0" animBg="1"/>
      <p:bldP spid="11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Workflow</a:t>
            </a:r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740431"/>
            <a:ext cx="8229600" cy="424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45D70-95D8-4D8C-9C53-304491C713C7}" type="slidenum">
              <a:rPr lang="en-IN" smtClean="0"/>
              <a:t>14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43603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3 Pillars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1️⃣ Representation – What is being learned?</a:t>
            </a:r>
          </a:p>
          <a:p>
            <a:endParaRPr dirty="0"/>
          </a:p>
          <a:p>
            <a:r>
              <a:rPr dirty="0"/>
              <a:t>Defines the hypothesis space of the model</a:t>
            </a:r>
          </a:p>
          <a:p>
            <a:r>
              <a:rPr dirty="0"/>
              <a:t>Examples: Linear models, decision trees, neural networks</a:t>
            </a:r>
          </a:p>
          <a:p>
            <a:r>
              <a:rPr dirty="0"/>
              <a:t>Includes feature selection, model type, and data representation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&amp;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2️⃣ Evaluation – How well is it doing?</a:t>
            </a:r>
          </a:p>
          <a:p>
            <a:r>
              <a:rPr dirty="0"/>
              <a:t>Defines the performance metric</a:t>
            </a:r>
          </a:p>
          <a:p>
            <a:r>
              <a:rPr dirty="0"/>
              <a:t>Examples: Accuracy, Precision, Recall, RMSE, F1-Score</a:t>
            </a:r>
          </a:p>
          <a:p>
            <a:endParaRPr dirty="0"/>
          </a:p>
          <a:p>
            <a:r>
              <a:rPr dirty="0"/>
              <a:t>3️⃣ Optimization – How to improve performance?</a:t>
            </a:r>
          </a:p>
          <a:p>
            <a:r>
              <a:rPr dirty="0"/>
              <a:t>Process of finding the best parameters</a:t>
            </a:r>
          </a:p>
          <a:p>
            <a:r>
              <a:rPr dirty="0"/>
              <a:t>Examples: Gradient descent, grid search, backpropagation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What Is a Model? What Is a Hypothesis Space?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dirty="0"/>
              <a:t> A Model in ML is a function that maps inputs to outputs:</a:t>
            </a:r>
          </a:p>
          <a:p>
            <a:pPr marL="0" indent="0">
              <a:buNone/>
            </a:pPr>
            <a:r>
              <a:rPr dirty="0"/>
              <a:t>   - Learns from data to make predictions or decisions</a:t>
            </a:r>
          </a:p>
          <a:p>
            <a:pPr marL="0" indent="0">
              <a:buNone/>
            </a:pPr>
            <a:r>
              <a:rPr dirty="0"/>
              <a:t>   - Example: y = </a:t>
            </a:r>
            <a:r>
              <a:rPr dirty="0" err="1"/>
              <a:t>wx</a:t>
            </a:r>
            <a:r>
              <a:rPr dirty="0"/>
              <a:t> + b (linear model)</a:t>
            </a:r>
          </a:p>
          <a:p>
            <a:endParaRPr dirty="0"/>
          </a:p>
          <a:p>
            <a:r>
              <a:rPr dirty="0"/>
              <a:t>📘 A Hypothesis Space is the set of all models the algorithm can choose from:</a:t>
            </a:r>
          </a:p>
          <a:p>
            <a:pPr marL="0" indent="0">
              <a:buNone/>
            </a:pPr>
            <a:r>
              <a:rPr dirty="0"/>
              <a:t>   - Defined by the model type and its parameters</a:t>
            </a:r>
          </a:p>
          <a:p>
            <a:pPr marL="0" indent="0">
              <a:buNone/>
            </a:pPr>
            <a:r>
              <a:rPr dirty="0"/>
              <a:t>   - Example: All linear functions with different weights w and biases b</a:t>
            </a:r>
          </a:p>
          <a:p>
            <a:endParaRPr dirty="0"/>
          </a:p>
          <a:p>
            <a:r>
              <a:rPr dirty="0"/>
              <a:t>🎯 Learning = Finding the best model within the hypothesis space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4E881-FA90-5BCB-833E-7DC665511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 descr="A diagram of a life cycle&#10;&#10;AI-generated content may be incorrect.">
            <a:extLst>
              <a:ext uri="{FF2B5EF4-FFF2-40B4-BE49-F238E27FC236}">
                <a16:creationId xmlns:a16="http://schemas.microsoft.com/office/drawing/2014/main" id="{03403C57-F996-32E1-2222-BE42A06FDF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9031" y="609600"/>
            <a:ext cx="5508901" cy="551656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22F87E-E7ED-21E1-F679-92B2C5F3F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45D70-95D8-4D8C-9C53-304491C713C7}" type="slidenum">
              <a:rPr lang="en-IN" smtClean="0"/>
              <a:t>18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73828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9707D-827B-EF99-F4A5-36CA5C636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79AC97-AAED-5DBD-574D-3C20CA9794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F7DFE0-CE14-0D13-A593-D53C585BE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45D70-95D8-4D8C-9C53-304491C713C7}" type="slidenum">
              <a:rPr lang="en-IN" smtClean="0"/>
              <a:t>19</a:t>
            </a:fld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9EAFAF-51D0-B80C-567F-DCDD9EB7FB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274639"/>
            <a:ext cx="9067800" cy="6308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867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EB9CE-C218-D039-97EC-D6A36D62B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Machine Learning vs Deep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45E254-9A0E-0752-E71E-160FFA32A1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B5301A-116A-4ED8-9D13-29DAC2F26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45D70-95D8-4D8C-9C53-304491C713C7}" type="slidenum">
              <a:rPr lang="en-IN" smtClean="0"/>
              <a:t>20</a:t>
            </a:fld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6A9167A-3C4D-B124-004E-DECF142CA7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81606"/>
            <a:ext cx="9144000" cy="3894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01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87AEF-1EBB-F370-BFD5-0FD6D86BA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learning vs Deep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C04E8D-64FC-50A0-FBF3-51BE9C2A9A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1ED186-71AD-BF65-DC03-FA601FB60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45D70-95D8-4D8C-9C53-304491C713C7}" type="slidenum">
              <a:rPr lang="en-IN" smtClean="0"/>
              <a:t>21</a:t>
            </a:fld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8A4FD4-B80A-1D3D-872C-A548258070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61652"/>
            <a:ext cx="9144000" cy="3734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485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FF2F3-A15C-C760-8215-E83A9B252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Machine Learning vs Deep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E245DB-120E-313C-F00D-08F4902AFA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E4A986-19FE-BFAF-A9EA-4B3E55612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45D70-95D8-4D8C-9C53-304491C713C7}" type="slidenum">
              <a:rPr lang="en-IN" smtClean="0"/>
              <a:t>22</a:t>
            </a:fld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D8CDFBC-B75E-26CC-F990-64B97B7716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90157"/>
            <a:ext cx="9144000" cy="3877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732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Categories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44812"/>
            <a:ext cx="6477000" cy="5045075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Supervised Learning </a:t>
            </a:r>
          </a:p>
          <a:p>
            <a:pPr>
              <a:lnSpc>
                <a:spcPct val="150000"/>
              </a:lnSpc>
            </a:pPr>
            <a:r>
              <a:rPr lang="en-US" dirty="0"/>
              <a:t>Unsupervised Learning</a:t>
            </a:r>
          </a:p>
          <a:p>
            <a:pPr>
              <a:lnSpc>
                <a:spcPct val="150000"/>
              </a:lnSpc>
            </a:pPr>
            <a:r>
              <a:rPr lang="en-US" dirty="0"/>
              <a:t>Reinforcement Learning</a:t>
            </a:r>
          </a:p>
          <a:p>
            <a:pPr>
              <a:lnSpc>
                <a:spcPct val="150000"/>
              </a:lnSpc>
            </a:pPr>
            <a:r>
              <a:rPr lang="en-US" dirty="0"/>
              <a:t>Generative learning</a:t>
            </a:r>
          </a:p>
          <a:p>
            <a:pPr>
              <a:lnSpc>
                <a:spcPct val="150000"/>
              </a:lnSpc>
            </a:pPr>
            <a:r>
              <a:rPr lang="en-US" dirty="0"/>
              <a:t>Bayesian learning</a:t>
            </a:r>
          </a:p>
          <a:p>
            <a:pPr>
              <a:lnSpc>
                <a:spcPct val="150000"/>
              </a:lnSpc>
            </a:pPr>
            <a:r>
              <a:rPr lang="en-US" dirty="0"/>
              <a:t>Semi-Supervised Learning </a:t>
            </a:r>
          </a:p>
          <a:p>
            <a:pPr>
              <a:lnSpc>
                <a:spcPct val="150000"/>
              </a:lnSpc>
            </a:pPr>
            <a:r>
              <a:rPr lang="en-US" dirty="0"/>
              <a:t>Self-supervised learning</a:t>
            </a:r>
          </a:p>
          <a:p>
            <a:pPr marL="0" indent="0">
              <a:lnSpc>
                <a:spcPct val="150000"/>
              </a:lnSpc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45D70-95D8-4D8C-9C53-304491C713C7}" type="slidenum">
              <a:rPr lang="en-IN" smtClean="0"/>
              <a:t>23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7337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Use-Cases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93837"/>
            <a:ext cx="8229600" cy="4678363"/>
          </a:xfrm>
        </p:spPr>
        <p:txBody>
          <a:bodyPr>
            <a:normAutofit/>
          </a:bodyPr>
          <a:lstStyle/>
          <a:p>
            <a:r>
              <a:rPr lang="en-US" dirty="0"/>
              <a:t>Spam Email Detection (Classification)</a:t>
            </a:r>
          </a:p>
          <a:p>
            <a:r>
              <a:rPr lang="en-US" dirty="0"/>
              <a:t>Image Search (Similarity/Classification)</a:t>
            </a:r>
          </a:p>
          <a:p>
            <a:r>
              <a:rPr lang="en-US" dirty="0"/>
              <a:t>Clustering (</a:t>
            </a:r>
            <a:r>
              <a:rPr lang="en-US" dirty="0" err="1"/>
              <a:t>KMeans</a:t>
            </a:r>
            <a:r>
              <a:rPr lang="en-US" dirty="0"/>
              <a:t>) : Social </a:t>
            </a:r>
            <a:r>
              <a:rPr lang="en-US"/>
              <a:t>media analysis</a:t>
            </a:r>
            <a:endParaRPr lang="en-US" dirty="0"/>
          </a:p>
          <a:p>
            <a:r>
              <a:rPr lang="en-US" dirty="0"/>
              <a:t>Autonomous driving/flying : Reinforcement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43800" y="6063734"/>
            <a:ext cx="1309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continued…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45D70-95D8-4D8C-9C53-304491C713C7}" type="slidenum">
              <a:rPr lang="en-IN" smtClean="0"/>
              <a:t>24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66021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Supervised Learning (Classification)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95400"/>
            <a:ext cx="8229600" cy="9906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correct classes (labels) of the training data are known</a:t>
            </a:r>
          </a:p>
        </p:txBody>
      </p:sp>
      <p:pic>
        <p:nvPicPr>
          <p:cNvPr id="11266" name="Picture 2" descr="http://us.hudson.com/portals/US/images/blogs/legal/wp/2011/09/Supervised-Learning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2438400"/>
            <a:ext cx="6281923" cy="3600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228600" y="6336268"/>
            <a:ext cx="80507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Credit: </a:t>
            </a:r>
            <a:r>
              <a:rPr lang="en-US" sz="1200" dirty="0">
                <a:hlinkClick r:id="rId3"/>
              </a:rPr>
              <a:t>http://us.hudson.com/legal/blog/postid/513/predictive-analytics-artificial-intelligence-science-fiction-e-discovery-truth</a:t>
            </a:r>
            <a:r>
              <a:rPr lang="en-US" sz="1200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45D70-95D8-4D8C-9C53-304491C713C7}" type="slidenum">
              <a:rPr lang="en-IN" smtClean="0"/>
              <a:t>25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7645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Supervised learning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76400"/>
            <a:ext cx="6477000" cy="4525963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A Bank may have borrower details (age, income, gender, etc.) of the past </a:t>
            </a:r>
            <a:r>
              <a:rPr lang="en-US" b="1" dirty="0"/>
              <a:t>(features)</a:t>
            </a:r>
          </a:p>
          <a:p>
            <a:pPr>
              <a:lnSpc>
                <a:spcPct val="150000"/>
              </a:lnSpc>
            </a:pPr>
            <a:r>
              <a:rPr lang="en-US" dirty="0"/>
              <a:t>Also it may have details of the borrowers who defaulted in the past </a:t>
            </a:r>
            <a:r>
              <a:rPr lang="en-US" b="1" dirty="0"/>
              <a:t>(labels)</a:t>
            </a:r>
          </a:p>
          <a:p>
            <a:pPr>
              <a:lnSpc>
                <a:spcPct val="150000"/>
              </a:lnSpc>
            </a:pPr>
            <a:r>
              <a:rPr lang="en-US" dirty="0"/>
              <a:t>Based on the above, can train a classifier to learn the patterns of borrowers who are likely to default on their payments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45D70-95D8-4D8C-9C53-304491C713C7}" type="slidenum">
              <a:rPr lang="en-IN" smtClean="0"/>
              <a:t>26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02084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Supervised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76400"/>
            <a:ext cx="7543800" cy="4876800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Used when the dataset has classes/labels</a:t>
            </a:r>
          </a:p>
          <a:p>
            <a:pPr>
              <a:lnSpc>
                <a:spcPct val="150000"/>
              </a:lnSpc>
            </a:pPr>
            <a:r>
              <a:rPr lang="en-US" dirty="0"/>
              <a:t>Includes a ‘training’ phase with the dataset and a ‘testing’ phase to validate the accuracy of the classifier</a:t>
            </a:r>
          </a:p>
          <a:p>
            <a:pPr>
              <a:lnSpc>
                <a:spcPct val="150000"/>
              </a:lnSpc>
            </a:pPr>
            <a:r>
              <a:rPr lang="en-US" dirty="0"/>
              <a:t>Algorithms – Regression, Support Vector Machines, Neural Networks, Convolutional Neural Networks, Decision Trees, Logistic Regression, Random Forest, Naïve Bayesian,  etc.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45D70-95D8-4D8C-9C53-304491C713C7}" type="slidenum">
              <a:rPr lang="en-IN" smtClean="0"/>
              <a:t>27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0896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Supervised learning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n-US" b="1"/>
              <a:t>Regression</a:t>
            </a:r>
            <a:r>
              <a:rPr lang="en-US"/>
              <a:t> </a:t>
            </a:r>
            <a:r>
              <a:rPr lang="en-US" dirty="0"/>
              <a:t>– Predict continuous variables (salary, rent)</a:t>
            </a:r>
          </a:p>
          <a:p>
            <a:pPr>
              <a:lnSpc>
                <a:spcPct val="150000"/>
              </a:lnSpc>
            </a:pPr>
            <a:r>
              <a:rPr lang="en-US" b="1" dirty="0"/>
              <a:t>Binary classification </a:t>
            </a:r>
            <a:r>
              <a:rPr lang="en-US" dirty="0"/>
              <a:t>(facial recognition, whether a tumor is benign or malignant)</a:t>
            </a:r>
          </a:p>
          <a:p>
            <a:pPr>
              <a:lnSpc>
                <a:spcPct val="150000"/>
              </a:lnSpc>
            </a:pPr>
            <a:r>
              <a:rPr lang="en-US" b="1" dirty="0"/>
              <a:t>Multi-class classification </a:t>
            </a:r>
            <a:r>
              <a:rPr lang="en-US" dirty="0"/>
              <a:t>(the type of a vehicle, the stage of progression of a cancer – level 1,2,3)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45D70-95D8-4D8C-9C53-304491C713C7}" type="slidenum">
              <a:rPr lang="en-IN" smtClean="0"/>
              <a:t>28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96118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5D81B-934B-4FED-07BE-2030846CB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6F8BD6-D758-B9B7-0D5C-403235460A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https://www.youtube.com/watch?v=chzq2E75M84</a:t>
            </a:r>
            <a:endParaRPr lang="en-US" dirty="0"/>
          </a:p>
          <a:p>
            <a:r>
              <a:rPr lang="en-US" dirty="0">
                <a:hlinkClick r:id="rId3"/>
              </a:rPr>
              <a:t>https://www.youtube.com/shorts/tpOg87AQvbo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5100F8-844A-1C91-8B7E-E96276EB4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45D70-95D8-4D8C-9C53-304491C713C7}" type="slidenum">
              <a:rPr lang="en-IN" smtClean="0"/>
              <a:t>29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6910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Unsupervised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76400"/>
            <a:ext cx="7848600" cy="495300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Used when the dataset does not have the labels (classes) </a:t>
            </a:r>
          </a:p>
          <a:p>
            <a:pPr>
              <a:lnSpc>
                <a:spcPct val="150000"/>
              </a:lnSpc>
            </a:pPr>
            <a:r>
              <a:rPr lang="en-US" dirty="0"/>
              <a:t>Used to group/cluster the data into clusters, which may then be used for decision making, making recommendations, classification, etc.</a:t>
            </a:r>
          </a:p>
          <a:p>
            <a:pPr>
              <a:lnSpc>
                <a:spcPct val="150000"/>
              </a:lnSpc>
            </a:pPr>
            <a:r>
              <a:rPr lang="en-US" dirty="0"/>
              <a:t>Algorithms – K-means, Self Organizing Maps, 			Deep belief Networks, etc.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45D70-95D8-4D8C-9C53-304491C713C7}" type="slidenum">
              <a:rPr lang="en-IN" smtClean="0"/>
              <a:t>30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06757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Unsupervised Learning/Clustering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305800" cy="9144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 The correct classes of the training data are not known</a:t>
            </a:r>
          </a:p>
          <a:p>
            <a:endParaRPr lang="en-US" dirty="0"/>
          </a:p>
        </p:txBody>
      </p:sp>
      <p:pic>
        <p:nvPicPr>
          <p:cNvPr id="10242" name="Picture 2" descr="http://us.hudson.com/portals/US/images/blogs/legal/wp/2011/09/Unsupervised-Learning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2539341"/>
            <a:ext cx="5972175" cy="3581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228600" y="6336268"/>
            <a:ext cx="80507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Credit: </a:t>
            </a:r>
            <a:r>
              <a:rPr lang="en-US" sz="1200" dirty="0">
                <a:hlinkClick r:id="rId3"/>
              </a:rPr>
              <a:t>http://us.hudson.com/legal/blog/postid/513/predictive-analytics-artificial-intelligence-science-fiction-e-discovery-truth</a:t>
            </a:r>
            <a:r>
              <a:rPr lang="en-US" sz="1200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45D70-95D8-4D8C-9C53-304491C713C7}" type="slidenum">
              <a:rPr lang="en-IN" smtClean="0"/>
              <a:t>31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5962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Unsupervised learning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76400"/>
            <a:ext cx="6477000" cy="4525963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A Supermarket may store each buyer’s basket content details </a:t>
            </a:r>
            <a:r>
              <a:rPr lang="en-US" b="1" dirty="0"/>
              <a:t>(features) </a:t>
            </a:r>
          </a:p>
          <a:p>
            <a:pPr>
              <a:lnSpc>
                <a:spcPct val="150000"/>
              </a:lnSpc>
            </a:pPr>
            <a:r>
              <a:rPr lang="en-US" dirty="0"/>
              <a:t>There are </a:t>
            </a:r>
            <a:r>
              <a:rPr lang="en-US" b="1" dirty="0"/>
              <a:t>NO</a:t>
            </a:r>
            <a:r>
              <a:rPr lang="en-US" dirty="0"/>
              <a:t> grouping </a:t>
            </a:r>
            <a:r>
              <a:rPr lang="en-US" b="1" dirty="0"/>
              <a:t>(labels)</a:t>
            </a:r>
          </a:p>
          <a:p>
            <a:pPr>
              <a:lnSpc>
                <a:spcPct val="150000"/>
              </a:lnSpc>
            </a:pPr>
            <a:r>
              <a:rPr lang="en-US" dirty="0"/>
              <a:t>Need to group the buyers based on their buying patterns in order to best use the shelf space (recommendation)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45D70-95D8-4D8C-9C53-304491C713C7}" type="slidenum">
              <a:rPr lang="en-IN" smtClean="0"/>
              <a:t>32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5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Unsupervised learning/Clustering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K-means clustering</a:t>
            </a:r>
          </a:p>
          <a:p>
            <a:r>
              <a:rPr lang="en-US" dirty="0"/>
              <a:t>Self organizing maps</a:t>
            </a:r>
          </a:p>
          <a:p>
            <a:r>
              <a:rPr lang="en-US" dirty="0"/>
              <a:t>Deep Belief Networks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45D70-95D8-4D8C-9C53-304491C713C7}" type="slidenum">
              <a:rPr lang="en-IN" smtClean="0"/>
              <a:t>33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1214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762000"/>
          </a:xfrm>
        </p:spPr>
        <p:txBody>
          <a:bodyPr/>
          <a:lstStyle/>
          <a:p>
            <a:r>
              <a:rPr lang="en-US" altLang="en-US"/>
              <a:t>K-means clustering example</a:t>
            </a:r>
          </a:p>
        </p:txBody>
      </p:sp>
      <p:pic>
        <p:nvPicPr>
          <p:cNvPr id="2150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1295400"/>
            <a:ext cx="5300663" cy="5148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45D70-95D8-4D8C-9C53-304491C713C7}" type="slidenum">
              <a:rPr lang="en-IN" smtClean="0"/>
              <a:t>34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4488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Reinforcement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160020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Allows the machine or software agent to learn its behavior based on feedback from the environment. </a:t>
            </a:r>
          </a:p>
          <a:p>
            <a:r>
              <a:rPr lang="en-US" dirty="0"/>
              <a:t>This behavior can be learnt once and for all, or keep on adapting as time goes by.</a:t>
            </a:r>
          </a:p>
        </p:txBody>
      </p:sp>
      <p:pic>
        <p:nvPicPr>
          <p:cNvPr id="13314" name="Picture 2" descr="http://us.hudson.com/portals/US/images/blogs/legal/wp/2011/09/Reinforcement-Learning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2971800"/>
            <a:ext cx="5972175" cy="3143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228600" y="6336268"/>
            <a:ext cx="80507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Credit: </a:t>
            </a:r>
            <a:r>
              <a:rPr lang="en-US" sz="1200" dirty="0">
                <a:hlinkClick r:id="rId3"/>
              </a:rPr>
              <a:t>http://us.hudson.com/legal/blog/postid/513/predictive-analytics-artificial-intelligence-science-fiction-e-discovery-truth</a:t>
            </a:r>
            <a:r>
              <a:rPr lang="en-US" sz="1200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45D70-95D8-4D8C-9C53-304491C713C7}" type="slidenum">
              <a:rPr lang="en-IN" smtClean="0"/>
              <a:t>35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83754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Reinforcement learning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76400"/>
            <a:ext cx="8001000" cy="5029200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Can be used when there’s no data available</a:t>
            </a:r>
          </a:p>
          <a:p>
            <a:pPr>
              <a:lnSpc>
                <a:spcPct val="150000"/>
              </a:lnSpc>
            </a:pPr>
            <a:r>
              <a:rPr lang="en-US" dirty="0"/>
              <a:t>A reward function is used to measure the reward for a given action</a:t>
            </a:r>
          </a:p>
          <a:p>
            <a:pPr>
              <a:lnSpc>
                <a:spcPct val="150000"/>
              </a:lnSpc>
            </a:pPr>
            <a:r>
              <a:rPr lang="en-US" dirty="0"/>
              <a:t>Based on the reward values, a probability distribution can be obtained for a given set of functions</a:t>
            </a:r>
          </a:p>
          <a:p>
            <a:pPr>
              <a:lnSpc>
                <a:spcPct val="150000"/>
              </a:lnSpc>
            </a:pPr>
            <a:r>
              <a:rPr lang="en-US" dirty="0"/>
              <a:t>This can continued over time and also can be deployed in both single/multi-agent systems</a:t>
            </a:r>
          </a:p>
          <a:p>
            <a:pPr>
              <a:lnSpc>
                <a:spcPct val="150000"/>
              </a:lnSpc>
            </a:pPr>
            <a:r>
              <a:rPr lang="en-US" dirty="0"/>
              <a:t>Algorithms – Actor Critic learning, Q learning, Monte-</a:t>
            </a:r>
            <a:r>
              <a:rPr lang="en-US" dirty="0" err="1"/>
              <a:t>carlo</a:t>
            </a:r>
            <a:r>
              <a:rPr lang="en-US" dirty="0"/>
              <a:t> methods, etc.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45D70-95D8-4D8C-9C53-304491C713C7}" type="slidenum">
              <a:rPr lang="en-IN" smtClean="0"/>
              <a:t>36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56500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Reinforcement learning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19200"/>
            <a:ext cx="7772400" cy="5486400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A group of robots have been deployed in an unknown territory </a:t>
            </a:r>
          </a:p>
          <a:p>
            <a:pPr>
              <a:lnSpc>
                <a:spcPct val="150000"/>
              </a:lnSpc>
            </a:pPr>
            <a:r>
              <a:rPr lang="en-US" dirty="0"/>
              <a:t>The objective is for them to collaboratively find the navigation path to reach a particular destination/goal</a:t>
            </a:r>
          </a:p>
          <a:p>
            <a:pPr>
              <a:lnSpc>
                <a:spcPct val="150000"/>
              </a:lnSpc>
            </a:pPr>
            <a:r>
              <a:rPr lang="en-US" dirty="0"/>
              <a:t>Can use reinforcement learning where achieving the goal/getting closer to the goal gives a positive reward. Negative reward otherwise</a:t>
            </a:r>
          </a:p>
          <a:p>
            <a:pPr>
              <a:lnSpc>
                <a:spcPct val="150000"/>
              </a:lnSpc>
            </a:pPr>
            <a:r>
              <a:rPr lang="en-US" dirty="0"/>
              <a:t>Can share the information among robots (multi-agent system)</a:t>
            </a:r>
          </a:p>
          <a:p>
            <a:pPr>
              <a:lnSpc>
                <a:spcPct val="150000"/>
              </a:lnSpc>
            </a:pPr>
            <a:r>
              <a:rPr lang="en-US" dirty="0">
                <a:hlinkClick r:id="rId2"/>
              </a:rPr>
              <a:t>https://www.youtube.com/watch?v=V1eYniJ0Rnk</a:t>
            </a:r>
            <a:r>
              <a:rPr lang="en-US" dirty="0"/>
              <a:t> 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45D70-95D8-4D8C-9C53-304491C713C7}" type="slidenum">
              <a:rPr lang="en-IN" smtClean="0"/>
              <a:t>37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28388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3283D-68D0-6F30-B819-2E6C53558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Generative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BFC557-E1E2-59C6-2140-0FC95C4C4A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solidFill>
                  <a:srgbClr val="374151"/>
                </a:solidFill>
                <a:latin typeface="Söhne"/>
              </a:rPr>
              <a:t>L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earning the underlying distribution of a dataset in order to generate new data points that resemble the original dataset.</a:t>
            </a:r>
          </a:p>
          <a:p>
            <a:endParaRPr lang="en-US" dirty="0">
              <a:solidFill>
                <a:srgbClr val="374151"/>
              </a:solidFill>
              <a:latin typeface="Söhne"/>
            </a:endParaRPr>
          </a:p>
          <a:p>
            <a:r>
              <a:rPr lang="en-US" dirty="0">
                <a:solidFill>
                  <a:srgbClr val="374151"/>
                </a:solidFill>
                <a:latin typeface="Söhne"/>
              </a:rPr>
              <a:t>E.g. Generative Adversarial Networks (GANs), Variational Autoencoders</a:t>
            </a:r>
          </a:p>
          <a:p>
            <a:endParaRPr lang="en-US" dirty="0">
              <a:solidFill>
                <a:srgbClr val="374151"/>
              </a:solidFill>
              <a:latin typeface="Söhne"/>
            </a:endParaRPr>
          </a:p>
          <a:p>
            <a:r>
              <a:rPr lang="en-US" dirty="0">
                <a:hlinkClick r:id="rId2"/>
              </a:rPr>
              <a:t>https://www.youtube.com/watch?v=G06dEcZ-QTg&amp;t=118s</a:t>
            </a:r>
            <a:endParaRPr lang="en-US" dirty="0"/>
          </a:p>
          <a:p>
            <a:r>
              <a:rPr lang="en-US" dirty="0">
                <a:hlinkClick r:id="rId3"/>
              </a:rPr>
              <a:t>https://www.youtube.com/watch?v=3wVpVH0Wa6E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FB06D4-5CA3-2744-6939-9219A56EE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45D70-95D8-4D8C-9C53-304491C713C7}" type="slidenum">
              <a:rPr lang="en-IN" smtClean="0"/>
              <a:t>38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60432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Semi-Supervised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1487" y="1371600"/>
            <a:ext cx="8229600" cy="761999"/>
          </a:xfrm>
        </p:spPr>
        <p:txBody>
          <a:bodyPr>
            <a:normAutofit fontScale="92500"/>
          </a:bodyPr>
          <a:lstStyle/>
          <a:p>
            <a:r>
              <a:rPr lang="en-US" dirty="0"/>
              <a:t>A Mix of Supervised and Unsupervised learning</a:t>
            </a:r>
          </a:p>
        </p:txBody>
      </p:sp>
      <p:pic>
        <p:nvPicPr>
          <p:cNvPr id="12290" name="Picture 2" descr="http://us.hudson.com/portals/US/images/blogs/legal/wp/2011/09/Semi-Supervised-Learning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2362200"/>
            <a:ext cx="5972175" cy="3371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228600" y="6336268"/>
            <a:ext cx="80507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Credit: </a:t>
            </a:r>
            <a:r>
              <a:rPr lang="en-US" sz="1200" dirty="0">
                <a:hlinkClick r:id="rId3"/>
              </a:rPr>
              <a:t>http://us.hudson.com/legal/blog/postid/513/predictive-analytics-artificial-intelligence-science-fiction-e-discovery-truth</a:t>
            </a:r>
            <a:r>
              <a:rPr lang="en-US" sz="1200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45D70-95D8-4D8C-9C53-304491C713C7}" type="slidenum">
              <a:rPr lang="en-IN" smtClean="0"/>
              <a:t>39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0664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Semi-supervised learning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76400"/>
            <a:ext cx="6477000" cy="4525963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Labeled data is expensive/difficult to get</a:t>
            </a:r>
          </a:p>
          <a:p>
            <a:pPr>
              <a:lnSpc>
                <a:spcPct val="150000"/>
              </a:lnSpc>
            </a:pPr>
            <a:r>
              <a:rPr lang="en-US" dirty="0"/>
              <a:t>Unlabeled data is cheap/easier to get</a:t>
            </a:r>
          </a:p>
          <a:p>
            <a:pPr>
              <a:lnSpc>
                <a:spcPct val="150000"/>
              </a:lnSpc>
            </a:pPr>
            <a:r>
              <a:rPr lang="en-US" dirty="0"/>
              <a:t>The idea is to use smaller amount of labelled data with larger amount of unlabeled data to creating the training/testing datasets</a:t>
            </a:r>
          </a:p>
          <a:p>
            <a:pPr>
              <a:lnSpc>
                <a:spcPct val="150000"/>
              </a:lnSpc>
            </a:pPr>
            <a:r>
              <a:rPr lang="en-US" dirty="0"/>
              <a:t>Algorithms -  Self Training,  Generative models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  	Semi-Supervised Support Vector 	Machines,  etc.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45D70-95D8-4D8C-9C53-304491C713C7}" type="slidenum">
              <a:rPr lang="en-IN" smtClean="0"/>
              <a:t>40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1721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C00000"/>
                </a:solidFill>
              </a:rPr>
              <a:t>Semi-supervised learning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dirty="0"/>
              <a:t>Web page classification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Speech to text conversion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Video/image generation</a:t>
            </a:r>
          </a:p>
          <a:p>
            <a:pPr>
              <a:lnSpc>
                <a:spcPct val="150000"/>
              </a:lnSpc>
            </a:pPr>
            <a:endParaRPr lang="en-US" sz="2800" dirty="0"/>
          </a:p>
          <a:p>
            <a:pPr>
              <a:lnSpc>
                <a:spcPct val="150000"/>
              </a:lnSpc>
            </a:pPr>
            <a:endParaRPr lang="en-US" sz="2800" dirty="0"/>
          </a:p>
          <a:p>
            <a:pPr>
              <a:lnSpc>
                <a:spcPct val="150000"/>
              </a:lnSpc>
            </a:pPr>
            <a:endParaRPr lang="en-US" sz="2800" dirty="0"/>
          </a:p>
          <a:p>
            <a:pPr>
              <a:lnSpc>
                <a:spcPct val="150000"/>
              </a:lnSpc>
            </a:pPr>
            <a:endParaRPr lang="en-US" sz="3100" dirty="0"/>
          </a:p>
          <a:p>
            <a:pPr>
              <a:lnSpc>
                <a:spcPct val="150000"/>
              </a:lnSpc>
            </a:pPr>
            <a:endParaRPr lang="en-US" sz="3100" dirty="0"/>
          </a:p>
          <a:p>
            <a:pPr>
              <a:lnSpc>
                <a:spcPct val="150000"/>
              </a:lnSpc>
            </a:pPr>
            <a:endParaRPr lang="en-US" sz="31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45D70-95D8-4D8C-9C53-304491C713C7}" type="slidenum">
              <a:rPr lang="en-IN" smtClean="0"/>
              <a:t>41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82485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Bayesian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Naïve </a:t>
            </a:r>
            <a:r>
              <a:rPr lang="en-US" dirty="0" err="1"/>
              <a:t>basian</a:t>
            </a:r>
            <a:r>
              <a:rPr lang="en-US" dirty="0"/>
              <a:t>, Multinomial </a:t>
            </a:r>
            <a:r>
              <a:rPr lang="en-US" dirty="0" err="1"/>
              <a:t>bayesian</a:t>
            </a:r>
            <a:r>
              <a:rPr lang="en-US" dirty="0"/>
              <a:t>, Bayesian networks, Hidden </a:t>
            </a:r>
            <a:r>
              <a:rPr lang="en-US" dirty="0" err="1"/>
              <a:t>markov</a:t>
            </a:r>
            <a:r>
              <a:rPr lang="en-US" dirty="0"/>
              <a:t> model</a:t>
            </a:r>
          </a:p>
          <a:p>
            <a:r>
              <a:rPr lang="en-US" dirty="0"/>
              <a:t>Applications: Sentiment analysis, medical diagnosis</a:t>
            </a:r>
          </a:p>
          <a:p>
            <a:r>
              <a:rPr lang="en-US" dirty="0"/>
              <a:t>Needs some initial knowledge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45D70-95D8-4D8C-9C53-304491C713C7}" type="slidenum">
              <a:rPr lang="en-IN" smtClean="0"/>
              <a:t>42</a:t>
            </a:fld>
            <a:endParaRPr lang="en-IN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1676400"/>
            <a:ext cx="5353396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22379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44922-1FB1-3119-37D3-05613DBF7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Self-supervised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FD6C52-3EF5-5983-99CC-0787D03780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The key idea is to automatically generate labels from the data itself. </a:t>
            </a:r>
          </a:p>
          <a:p>
            <a:r>
              <a:rPr lang="en-US" dirty="0">
                <a:solidFill>
                  <a:srgbClr val="374151"/>
                </a:solidFill>
                <a:latin typeface="Söhne"/>
              </a:rPr>
              <a:t>Combination of both supervised and unsupervised learning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F9B41C-F451-DCB3-AE8C-5EC9D9D06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45D70-95D8-4D8C-9C53-304491C713C7}" type="slidenum">
              <a:rPr lang="en-IN" smtClean="0"/>
              <a:t>43</a:t>
            </a:fld>
            <a:endParaRPr lang="en-IN" dirty="0"/>
          </a:p>
        </p:txBody>
      </p:sp>
      <p:pic>
        <p:nvPicPr>
          <p:cNvPr id="1028" name="Picture 4" descr="Self Supervised Representation Learning in NLP">
            <a:extLst>
              <a:ext uri="{FF2B5EF4-FFF2-40B4-BE49-F238E27FC236}">
                <a16:creationId xmlns:a16="http://schemas.microsoft.com/office/drawing/2014/main" id="{C8E540AF-D547-A5FC-E25C-7A2E15B1D7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3962400"/>
            <a:ext cx="5905500" cy="1933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3257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4C9CB-FF1F-61D0-CBD5-C6F250613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B17392-1D47-D867-C79C-37384771C7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Identify a problem at your workplace where ML can be used.</a:t>
            </a:r>
          </a:p>
          <a:p>
            <a:r>
              <a:rPr lang="en-US" dirty="0"/>
              <a:t>Identify the class of algorithms to be used (supervised, unsupervised, reinforcement, </a:t>
            </a:r>
            <a:r>
              <a:rPr lang="en-US" dirty="0" err="1"/>
              <a:t>etc</a:t>
            </a:r>
            <a:r>
              <a:rPr lang="en-US" dirty="0"/>
              <a:t>). </a:t>
            </a:r>
          </a:p>
          <a:p>
            <a:r>
              <a:rPr lang="en-US" dirty="0"/>
              <a:t>Identify two input features that you can use to build the 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341E32-4F18-2B81-1F8A-8BECE5E9D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45D70-95D8-4D8C-9C53-304491C713C7}" type="slidenum">
              <a:rPr lang="en-IN" smtClean="0"/>
              <a:t>44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42446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Dimensionality Reduction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35563"/>
          </a:xfrm>
        </p:spPr>
        <p:txBody>
          <a:bodyPr>
            <a:normAutofit/>
          </a:bodyPr>
          <a:lstStyle/>
          <a:p>
            <a:r>
              <a:rPr lang="en-US" dirty="0"/>
              <a:t>Too many attributes!!!</a:t>
            </a:r>
          </a:p>
          <a:p>
            <a:r>
              <a:rPr lang="en-US" dirty="0"/>
              <a:t>Which attributes to choose for the feature vector?</a:t>
            </a:r>
          </a:p>
          <a:p>
            <a:r>
              <a:rPr lang="en-US" dirty="0"/>
              <a:t>3D picture –&gt; 2D Image</a:t>
            </a:r>
          </a:p>
          <a:p>
            <a:r>
              <a:rPr lang="en-US" dirty="0"/>
              <a:t>Dimensionality Reduction</a:t>
            </a:r>
          </a:p>
          <a:p>
            <a:r>
              <a:rPr lang="en-US" dirty="0"/>
              <a:t>Principal Component Analysis (PCA) is a commonly used technique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45D70-95D8-4D8C-9C53-304491C713C7}" type="slidenum">
              <a:rPr lang="en-IN" smtClean="0"/>
              <a:t>45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9106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 l="31667" t="18311" r="40833" b="25448"/>
          <a:stretch>
            <a:fillRect/>
          </a:stretch>
        </p:blipFill>
        <p:spPr bwMode="auto">
          <a:xfrm>
            <a:off x="2895600" y="1066800"/>
            <a:ext cx="2514600" cy="327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381000" y="4495800"/>
            <a:ext cx="8763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/>
            <a:r>
              <a:rPr lang="en-US" sz="2400" dirty="0"/>
              <a:t>While </a:t>
            </a:r>
            <a:r>
              <a:rPr lang="en-US" sz="2400" b="1" dirty="0"/>
              <a:t>dimensionality reduction </a:t>
            </a:r>
            <a:r>
              <a:rPr lang="en-US" sz="2400" dirty="0"/>
              <a:t>is an important tool in machine learning/data mining, we must always be aware that it can distort the data in misleading ways.</a:t>
            </a:r>
          </a:p>
          <a:p>
            <a:pPr algn="l" rtl="0"/>
            <a:endParaRPr lang="en-US" sz="2400" dirty="0"/>
          </a:p>
          <a:p>
            <a:pPr algn="l" rtl="0"/>
            <a:r>
              <a:rPr lang="en-US" sz="2400" dirty="0"/>
              <a:t>Above is a two dimensional projection of an intrinsically three dimensional world….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Dimensionality Reduction -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45D70-95D8-4D8C-9C53-304491C713C7}" type="slidenum">
              <a:rPr lang="en-IN" smtClean="0"/>
              <a:t>46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34901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58260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Box 2"/>
          <p:cNvSpPr txBox="1"/>
          <p:nvPr/>
        </p:nvSpPr>
        <p:spPr>
          <a:xfrm>
            <a:off x="0" y="6019800"/>
            <a:ext cx="8458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/>
            <a:r>
              <a:rPr lang="en-US" i="1" dirty="0">
                <a:solidFill>
                  <a:schemeClr val="bg1">
                    <a:lumMod val="65000"/>
                  </a:schemeClr>
                </a:solidFill>
              </a:rPr>
              <a:t>Original photographer unknown</a:t>
            </a:r>
          </a:p>
          <a:p>
            <a:pPr algn="l" rtl="0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See also www.cs.gmu.edu/~jessica/DimReducDanger.htm                       (c) </a:t>
            </a:r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eamonn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keogh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     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45D70-95D8-4D8C-9C53-304491C713C7}" type="slidenum">
              <a:rPr lang="en-IN" smtClean="0"/>
              <a:t>47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4335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86BBB-9730-01D0-AB34-316DBFA07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Large Language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0DB3BB-11A6-0194-3827-6B274E0088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Multiple ML techniques used (supervised, unsupervised, Reinforcement, Self-supervised, Transfer learning)</a:t>
            </a:r>
          </a:p>
          <a:p>
            <a:r>
              <a:rPr lang="en-US" dirty="0"/>
              <a:t>Multi-modal LLMs (MLLMs)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56C744-F759-F3F6-842A-0F2EE4FA7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45D70-95D8-4D8C-9C53-304491C713C7}" type="slidenum">
              <a:rPr lang="en-IN" smtClean="0"/>
              <a:t>48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72911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Ensemble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35563"/>
          </a:xfrm>
        </p:spPr>
        <p:txBody>
          <a:bodyPr>
            <a:normAutofit/>
          </a:bodyPr>
          <a:lstStyle/>
          <a:p>
            <a:r>
              <a:rPr lang="en-US" dirty="0"/>
              <a:t>Often, multiple classifiers need to be combined to solve a real-world problem.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600" y="2057400"/>
            <a:ext cx="4286250" cy="4714875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45D70-95D8-4D8C-9C53-304491C713C7}" type="slidenum">
              <a:rPr lang="en-IN" smtClean="0"/>
              <a:t>49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4462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50838"/>
            <a:ext cx="8229600" cy="792162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C00000"/>
                </a:solidFill>
              </a:rPr>
              <a:t>Machine learning on Big Data and GPGPU computing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35563"/>
          </a:xfrm>
        </p:spPr>
        <p:txBody>
          <a:bodyPr>
            <a:normAutofit/>
          </a:bodyPr>
          <a:lstStyle/>
          <a:p>
            <a:r>
              <a:rPr lang="en-US" dirty="0"/>
              <a:t>Use large unstructured data sets for learning (Call records, Social media data, etc.)</a:t>
            </a:r>
          </a:p>
          <a:p>
            <a:r>
              <a:rPr lang="en-US" dirty="0"/>
              <a:t>Two main approaches</a:t>
            </a:r>
          </a:p>
          <a:p>
            <a:r>
              <a:rPr lang="en-US" dirty="0"/>
              <a:t>Use a Big Data Platform (e.g. Apache Hadoop, Apache Spark/Spark ML)</a:t>
            </a:r>
          </a:p>
          <a:p>
            <a:r>
              <a:rPr lang="en-US" dirty="0"/>
              <a:t>Use a Cloud based Big Data Analytics platform (Amazon AWS Services, Microsoft Azure ML)</a:t>
            </a:r>
          </a:p>
          <a:p>
            <a:r>
              <a:rPr lang="en-US" i="1" dirty="0"/>
              <a:t>GPUs to speed up the learning (particularly in Deep learning)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45D70-95D8-4D8C-9C53-304491C713C7}" type="slidenum">
              <a:rPr lang="en-IN" smtClean="0"/>
              <a:t>50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6226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Popular Frameworks/Tools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35563"/>
          </a:xfrm>
        </p:spPr>
        <p:txBody>
          <a:bodyPr>
            <a:normAutofit fontScale="77500" lnSpcReduction="20000"/>
          </a:bodyPr>
          <a:lstStyle/>
          <a:p>
            <a:r>
              <a:rPr lang="en-US" dirty="0" err="1"/>
              <a:t>Scikit</a:t>
            </a:r>
            <a:r>
              <a:rPr lang="en-US" dirty="0"/>
              <a:t>-learn  - Python (Anaconda Python Distribution)</a:t>
            </a:r>
          </a:p>
          <a:p>
            <a:r>
              <a:rPr lang="en-US" dirty="0"/>
              <a:t>Google </a:t>
            </a:r>
            <a:r>
              <a:rPr lang="en-US" dirty="0" err="1"/>
              <a:t>Tensorflow</a:t>
            </a:r>
            <a:r>
              <a:rPr lang="en-US" dirty="0"/>
              <a:t> (Python library for Deep neural networks), </a:t>
            </a:r>
            <a:r>
              <a:rPr lang="en-US" dirty="0" err="1"/>
              <a:t>Pytorch</a:t>
            </a:r>
            <a:r>
              <a:rPr lang="en-US" dirty="0"/>
              <a:t> (Facebook)</a:t>
            </a:r>
          </a:p>
          <a:p>
            <a:r>
              <a:rPr lang="en-US" dirty="0"/>
              <a:t>Apache </a:t>
            </a:r>
            <a:r>
              <a:rPr lang="en-US" dirty="0" err="1"/>
              <a:t>Keras</a:t>
            </a:r>
            <a:r>
              <a:rPr lang="en-US" dirty="0"/>
              <a:t> (Python library of neural networks)</a:t>
            </a:r>
          </a:p>
          <a:p>
            <a:r>
              <a:rPr lang="en-US" dirty="0"/>
              <a:t>R (R studio)</a:t>
            </a:r>
          </a:p>
          <a:p>
            <a:r>
              <a:rPr lang="en-US" dirty="0" err="1"/>
              <a:t>Matlab</a:t>
            </a:r>
            <a:r>
              <a:rPr lang="en-US" dirty="0"/>
              <a:t>/Octave (can export DLLs)</a:t>
            </a:r>
          </a:p>
          <a:p>
            <a:r>
              <a:rPr lang="en-US" dirty="0"/>
              <a:t>Weka (Java based)</a:t>
            </a:r>
          </a:p>
          <a:p>
            <a:r>
              <a:rPr lang="en-US" dirty="0"/>
              <a:t>Java </a:t>
            </a:r>
            <a:r>
              <a:rPr lang="en-US" dirty="0" err="1"/>
              <a:t>OpenNLP</a:t>
            </a:r>
            <a:r>
              <a:rPr lang="en-US" dirty="0"/>
              <a:t>/Python NLTK (Natural language processing +  ML)</a:t>
            </a:r>
          </a:p>
          <a:p>
            <a:r>
              <a:rPr lang="en-US" dirty="0"/>
              <a:t>Apache Spark/Spark ML (part of the Apache Hadoop platform)</a:t>
            </a:r>
          </a:p>
          <a:p>
            <a:r>
              <a:rPr lang="en-US" dirty="0"/>
              <a:t>Theano (Python library for Multicore processing of DNNs)</a:t>
            </a:r>
          </a:p>
          <a:p>
            <a:r>
              <a:rPr lang="en-US" dirty="0"/>
              <a:t>Amazon AWS Services/Microsoft Azure ML (Cloud based ML)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45D70-95D8-4D8C-9C53-304491C713C7}" type="slidenum">
              <a:rPr lang="en-IN" smtClean="0"/>
              <a:t>51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91850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Commonly used python libraries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45D70-95D8-4D8C-9C53-304491C713C7}" type="slidenum">
              <a:rPr lang="en-IN" smtClean="0"/>
              <a:t>52</a:t>
            </a:fld>
            <a:endParaRPr lang="en-IN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NumPy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   - Matrix computations</a:t>
            </a:r>
          </a:p>
          <a:p>
            <a:r>
              <a:rPr lang="en-US" dirty="0"/>
              <a:t>Pandas</a:t>
            </a:r>
          </a:p>
          <a:p>
            <a:pPr marL="0" indent="0">
              <a:buNone/>
            </a:pPr>
            <a:r>
              <a:rPr lang="en-US" dirty="0"/>
              <a:t>   - Data Frames, Series</a:t>
            </a:r>
          </a:p>
          <a:p>
            <a:r>
              <a:rPr lang="en-US" dirty="0" err="1"/>
              <a:t>Matpotlib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- Visualization</a:t>
            </a:r>
            <a:endParaRPr lang="en-GB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4657" y="1295400"/>
            <a:ext cx="3819525" cy="3724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90280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C00000"/>
                </a:solidFill>
              </a:rPr>
              <a:t>Things to consider in Selecting a ML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35563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If there’s an algorithmic method instead of ML, better to use the algorithmic method (ML is messy)</a:t>
            </a:r>
          </a:p>
          <a:p>
            <a:r>
              <a:rPr lang="en-US" dirty="0"/>
              <a:t>Refer the literature</a:t>
            </a:r>
          </a:p>
          <a:p>
            <a:r>
              <a:rPr lang="en-US" dirty="0"/>
              <a:t>Try different ML algorithms (no single algorithm is the best)</a:t>
            </a:r>
          </a:p>
          <a:p>
            <a:r>
              <a:rPr lang="en-US" dirty="0"/>
              <a:t>Check the dataset against the usage/strength of each algorithm (e.g. RNNs, ARIMA is good in time-series predictions)</a:t>
            </a:r>
          </a:p>
          <a:p>
            <a:r>
              <a:rPr lang="en-US" dirty="0"/>
              <a:t>Test your algorithm(s) with test data and select the best performing one for production (include the test results in your thesis/publications)</a:t>
            </a:r>
          </a:p>
          <a:p>
            <a:r>
              <a:rPr lang="en-US" dirty="0"/>
              <a:t>No algorithm will be perfect! (There will be an error. The objective is to keep the error at an acceptable rate)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45D70-95D8-4D8C-9C53-304491C713C7}" type="slidenum">
              <a:rPr lang="en-IN" smtClean="0"/>
              <a:t>53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1384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760D1-3F53-BFAF-3DC6-00170A63D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Issues/Challenges in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4E62F4-B988-6882-C9DD-D57B0F83F2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Hallucination</a:t>
            </a:r>
          </a:p>
          <a:p>
            <a:endParaRPr lang="en-US" dirty="0"/>
          </a:p>
          <a:p>
            <a:r>
              <a:rPr lang="en-US" dirty="0"/>
              <a:t>“What is the seahorse emoji?”</a:t>
            </a:r>
          </a:p>
          <a:p>
            <a:endParaRPr lang="en-US" dirty="0"/>
          </a:p>
          <a:p>
            <a:r>
              <a:rPr lang="en-US" dirty="0">
                <a:hlinkClick r:id="rId2"/>
              </a:rPr>
              <a:t>https://www.techradar.com/pro/almost-all-genai-pilots-companies-deploy-are-failing-are-they-really-worth-the-hype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EFECCE-6170-A9CC-C129-8872B7B99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45D70-95D8-4D8C-9C53-304491C713C7}" type="slidenum">
              <a:rPr lang="en-IN" smtClean="0"/>
              <a:t>54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20566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06FC3-A70C-AF9F-95EA-031EA02B2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A7AC96-561F-E852-C1BA-6410F0AF2B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“Draw an image of a clock showing the time 4.38pm”</a:t>
            </a:r>
          </a:p>
          <a:p>
            <a:endParaRPr lang="en-US" dirty="0"/>
          </a:p>
          <a:p>
            <a:r>
              <a:rPr lang="en-US" dirty="0">
                <a:hlinkClick r:id="rId2"/>
              </a:rPr>
              <a:t>https://www.forbes.com/sites/mzhang/2015/07/01/google-photos-tags-two-african-americans-as-gorillas-through-facial-recognition-software/</a:t>
            </a:r>
            <a:endParaRPr lang="en-US" dirty="0"/>
          </a:p>
          <a:p>
            <a:endParaRPr lang="en-US" dirty="0"/>
          </a:p>
          <a:p>
            <a:r>
              <a:rPr lang="en-US" dirty="0">
                <a:hlinkClick r:id="rId3"/>
              </a:rPr>
              <a:t>https://www.reuters.com/article/world/insight-amazon-scraps-secret-ai-recruiting-tool-that-showed-bias-against-women-idUSKCN1MK0AG/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6A7C37-CFC2-7648-896D-10921893E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45D70-95D8-4D8C-9C53-304491C713C7}" type="slidenum">
              <a:rPr lang="en-IN" smtClean="0"/>
              <a:t>55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703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DC6FE-22BB-A739-2F98-A597B2FDB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Privacy/IP issues/</a:t>
            </a:r>
            <a:r>
              <a:rPr lang="en-US"/>
              <a:t>Data sensitivity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36B8BF-789D-8236-545A-E8D38AC228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https://www.bbc.com/news/technology-67133157</a:t>
            </a:r>
            <a:endParaRPr lang="en-US" dirty="0"/>
          </a:p>
          <a:p>
            <a:r>
              <a:rPr lang="en-US" dirty="0">
                <a:hlinkClick r:id="rId3"/>
              </a:rPr>
              <a:t>https://www.theguardian.com/technology/2025/nov/11/chatgpt-violated-copyright-laws-german-court-rules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95CFD9-9F5F-317E-25B4-5CB292FCE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45D70-95D8-4D8C-9C53-304491C713C7}" type="slidenum">
              <a:rPr lang="en-IN" smtClean="0"/>
              <a:t>56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72939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917EB-0DEF-2C69-C37C-3A305BE1E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Issues/Challenges in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D6E8DF-7FEB-BD74-F3E2-E321F614FC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Interpretability/Explainability</a:t>
            </a:r>
          </a:p>
          <a:p>
            <a:r>
              <a:rPr lang="en-US" dirty="0"/>
              <a:t>Generalizability </a:t>
            </a:r>
          </a:p>
          <a:p>
            <a:r>
              <a:rPr lang="en-US" dirty="0">
                <a:hlinkClick r:id="rId2"/>
              </a:rPr>
              <a:t>Legal issues</a:t>
            </a:r>
            <a:endParaRPr lang="en-US" dirty="0"/>
          </a:p>
          <a:p>
            <a:r>
              <a:rPr lang="en-US" dirty="0">
                <a:hlinkClick r:id="rId3"/>
              </a:rPr>
              <a:t>Ethical issues </a:t>
            </a:r>
            <a:endParaRPr lang="en-US" dirty="0"/>
          </a:p>
          <a:p>
            <a:r>
              <a:rPr lang="en-US" dirty="0">
                <a:hlinkClick r:id="rId4"/>
              </a:rPr>
              <a:t>Social issues</a:t>
            </a:r>
            <a:endParaRPr lang="en-US" dirty="0"/>
          </a:p>
          <a:p>
            <a:r>
              <a:rPr lang="en-US" dirty="0">
                <a:hlinkClick r:id="rId5"/>
              </a:rPr>
              <a:t>Misinformation</a:t>
            </a:r>
            <a:endParaRPr lang="en-US" dirty="0"/>
          </a:p>
          <a:p>
            <a:r>
              <a:rPr lang="en-US" dirty="0">
                <a:hlinkClick r:id="rId6"/>
              </a:rPr>
              <a:t>Security threats</a:t>
            </a:r>
            <a:endParaRPr lang="en-US" dirty="0"/>
          </a:p>
          <a:p>
            <a:r>
              <a:rPr lang="en-US" dirty="0"/>
              <a:t>Data availability/Data democracy</a:t>
            </a:r>
          </a:p>
          <a:p>
            <a:r>
              <a:rPr lang="en-US" dirty="0"/>
              <a:t>External factors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9239E3-0646-2443-642D-E382AA9C6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45D70-95D8-4D8C-9C53-304491C713C7}" type="slidenum">
              <a:rPr lang="en-IN" smtClean="0"/>
              <a:t>57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65557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AE7E2-A820-DA84-254B-F0FF0E6FA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Issues/Challenges in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7CA08-F01B-63EC-9F41-9B230AE665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Concept drift/Data drift</a:t>
            </a:r>
          </a:p>
          <a:p>
            <a:r>
              <a:rPr lang="en-US" dirty="0">
                <a:hlinkClick r:id="rId2"/>
              </a:rPr>
              <a:t>Energy usage/Environmental cost</a:t>
            </a:r>
            <a:endParaRPr lang="en-US" dirty="0"/>
          </a:p>
          <a:p>
            <a:r>
              <a:rPr lang="en-US" dirty="0">
                <a:hlinkClick r:id="rId3"/>
              </a:rPr>
              <a:t>Sustainability of AI </a:t>
            </a:r>
            <a:endParaRPr lang="en-US" dirty="0"/>
          </a:p>
          <a:p>
            <a:r>
              <a:rPr lang="en-US" dirty="0"/>
              <a:t>Impact on education/skills/creativity</a:t>
            </a:r>
          </a:p>
          <a:p>
            <a:r>
              <a:rPr lang="en-US" dirty="0">
                <a:hlinkClick r:id="rId4"/>
              </a:rPr>
              <a:t>https://www.youtube.com/watch?v=R8Up9Ph_a0Y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29D1C8-8E44-76FA-9CAA-971DF1EDA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45D70-95D8-4D8C-9C53-304491C713C7}" type="slidenum">
              <a:rPr lang="en-IN" smtClean="0"/>
              <a:t>58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47048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35563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MOOCS (Massive Online Open Courseware) – Coursera, Udemy, Udacity</a:t>
            </a:r>
          </a:p>
          <a:p>
            <a:r>
              <a:rPr lang="en-US" dirty="0"/>
              <a:t>Introduction to Statistical Learning</a:t>
            </a:r>
          </a:p>
          <a:p>
            <a:pPr marL="0" indent="0">
              <a:buNone/>
            </a:pPr>
            <a:r>
              <a:rPr lang="en-US" dirty="0">
                <a:hlinkClick r:id="rId2"/>
              </a:rPr>
              <a:t>https://hastie.su.domains/ISLR2/ISLRv2_website.pdf</a:t>
            </a:r>
            <a:endParaRPr lang="en-US" dirty="0"/>
          </a:p>
          <a:p>
            <a:pPr marL="0" indent="0">
              <a:buNone/>
            </a:pPr>
            <a:r>
              <a:rPr lang="en-US" dirty="0">
                <a:hlinkClick r:id="rId3"/>
              </a:rPr>
              <a:t>https://www.statlearning.com/</a:t>
            </a:r>
            <a:endParaRPr lang="en-US" dirty="0"/>
          </a:p>
          <a:p>
            <a:r>
              <a:rPr lang="en-US" dirty="0"/>
              <a:t>Hands on Machine Learning with scikit-learn</a:t>
            </a:r>
          </a:p>
          <a:p>
            <a:pPr marL="0" indent="0">
              <a:buNone/>
            </a:pPr>
            <a:r>
              <a:rPr lang="en-US" dirty="0">
                <a:hlinkClick r:id="rId4"/>
              </a:rPr>
              <a:t>http://powerunit-ju.com/wp-content/uploads/2021/04/Aurelien-Geron-Hands-On-Machine-Learning-with-Scikit-Learn-Keras-and-Tensorflow_-Concepts-Tools-and-Techniques-to-Build-Intelligent-Systems-OReilly-Media-2019.pdf</a:t>
            </a:r>
            <a:endParaRPr lang="en-US" dirty="0"/>
          </a:p>
          <a:p>
            <a:r>
              <a:rPr lang="en-US" dirty="0"/>
              <a:t>Deep Learning – Ian Goodfellow</a:t>
            </a:r>
          </a:p>
          <a:p>
            <a:pPr marL="0" indent="0">
              <a:buNone/>
            </a:pPr>
            <a:r>
              <a:rPr lang="en-US" dirty="0">
                <a:hlinkClick r:id="rId5"/>
              </a:rPr>
              <a:t>https://www.deeplearningbook.org/</a:t>
            </a:r>
            <a:endParaRPr lang="en-US" dirty="0"/>
          </a:p>
          <a:p>
            <a:pPr marL="0" indent="0">
              <a:buNone/>
            </a:pPr>
            <a:r>
              <a:rPr lang="en-US" dirty="0">
                <a:hlinkClick r:id="rId6"/>
              </a:rPr>
              <a:t>https://github.com/janishar/mit-deep-learning-book-pdf/blob/master/complete-book-bookmarked-pdf/deeplearningbook.pdf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Dive into Deep Learning</a:t>
            </a:r>
          </a:p>
          <a:p>
            <a:pPr marL="0" indent="0">
              <a:buNone/>
            </a:pPr>
            <a:r>
              <a:rPr lang="en-US" dirty="0">
                <a:hlinkClick r:id="rId7"/>
              </a:rPr>
              <a:t>https://d2l.ai/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45D70-95D8-4D8C-9C53-304491C713C7}" type="slidenum">
              <a:rPr lang="en-IN" smtClean="0"/>
              <a:t>59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5022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420888"/>
            <a:ext cx="8229600" cy="1143000"/>
          </a:xfrm>
        </p:spPr>
        <p:txBody>
          <a:bodyPr/>
          <a:lstStyle/>
          <a:p>
            <a:r>
              <a:rPr lang="en-US" dirty="0"/>
              <a:t>Questions ?</a:t>
            </a:r>
            <a:endParaRPr lang="en-IN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45D70-95D8-4D8C-9C53-304491C713C7}" type="slidenum">
              <a:rPr lang="en-IN" smtClean="0"/>
              <a:t>60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66043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16835</TotalTime>
  <Words>2372</Words>
  <Application>Microsoft Office PowerPoint</Application>
  <PresentationFormat>On-screen Show (4:3)</PresentationFormat>
  <Paragraphs>425</Paragraphs>
  <Slides>60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5" baseType="lpstr">
      <vt:lpstr>Aharoni</vt:lpstr>
      <vt:lpstr>Arial</vt:lpstr>
      <vt:lpstr>Calibri</vt:lpstr>
      <vt:lpstr>Söhne</vt:lpstr>
      <vt:lpstr>Office Theme</vt:lpstr>
      <vt:lpstr>Machine Learning – An Introduction   </vt:lpstr>
      <vt:lpstr>Background knowledge</vt:lpstr>
      <vt:lpstr>Agenda</vt:lpstr>
      <vt:lpstr>Why now?</vt:lpstr>
      <vt:lpstr>In other words…</vt:lpstr>
      <vt:lpstr>PowerPoint Presentation</vt:lpstr>
      <vt:lpstr>Motivating Example Learning to Filter Spam</vt:lpstr>
      <vt:lpstr>Terminology</vt:lpstr>
      <vt:lpstr>The Learning Process</vt:lpstr>
      <vt:lpstr>The Learning Process in our Example</vt:lpstr>
      <vt:lpstr>Data Set</vt:lpstr>
      <vt:lpstr>Model Learning</vt:lpstr>
      <vt:lpstr>Model Testing</vt:lpstr>
      <vt:lpstr>Workflow</vt:lpstr>
      <vt:lpstr>The 3 Pillars of Machine Learning</vt:lpstr>
      <vt:lpstr>Evaluation &amp; Optimization</vt:lpstr>
      <vt:lpstr>What Is a Model? What Is a Hypothesis Space?</vt:lpstr>
      <vt:lpstr>PowerPoint Presentation</vt:lpstr>
      <vt:lpstr>PowerPoint Presentation</vt:lpstr>
      <vt:lpstr>Machine Learning vs Deep Learning</vt:lpstr>
      <vt:lpstr>Machine learning vs Deep Learning</vt:lpstr>
      <vt:lpstr>Machine Learning vs Deep Learning</vt:lpstr>
      <vt:lpstr>Categories</vt:lpstr>
      <vt:lpstr>Use-Cases</vt:lpstr>
      <vt:lpstr>Supervised Learning (Classification)</vt:lpstr>
      <vt:lpstr>Supervised learning examples</vt:lpstr>
      <vt:lpstr>Supervised learning</vt:lpstr>
      <vt:lpstr>Supervised learning </vt:lpstr>
      <vt:lpstr>Example</vt:lpstr>
      <vt:lpstr>Unsupervised learning</vt:lpstr>
      <vt:lpstr>Unsupervised Learning/Clustering</vt:lpstr>
      <vt:lpstr>Unsupervised learning examples</vt:lpstr>
      <vt:lpstr>Unsupervised learning/Clustering</vt:lpstr>
      <vt:lpstr>K-means clustering example</vt:lpstr>
      <vt:lpstr>Reinforcement Learning</vt:lpstr>
      <vt:lpstr>Reinforcement learning </vt:lpstr>
      <vt:lpstr>Reinforcement learning examples</vt:lpstr>
      <vt:lpstr>Generative Learning</vt:lpstr>
      <vt:lpstr>Semi-Supervised Learning</vt:lpstr>
      <vt:lpstr>Semi-supervised learning </vt:lpstr>
      <vt:lpstr>Semi-supervised learning applications</vt:lpstr>
      <vt:lpstr>Bayesian learning</vt:lpstr>
      <vt:lpstr>Self-supervised learning</vt:lpstr>
      <vt:lpstr>Exercise</vt:lpstr>
      <vt:lpstr>Dimensionality Reduction</vt:lpstr>
      <vt:lpstr>Dimensionality Reduction - Challenges</vt:lpstr>
      <vt:lpstr>PowerPoint Presentation</vt:lpstr>
      <vt:lpstr>Large Language Models</vt:lpstr>
      <vt:lpstr>Ensemble Learning</vt:lpstr>
      <vt:lpstr>Machine learning on Big Data and GPGPU computing</vt:lpstr>
      <vt:lpstr>Popular Frameworks/Tools</vt:lpstr>
      <vt:lpstr>Commonly used python libraries</vt:lpstr>
      <vt:lpstr>Things to consider in Selecting a ML Algorithm</vt:lpstr>
      <vt:lpstr>Issues/Challenges in AI</vt:lpstr>
      <vt:lpstr>Bias</vt:lpstr>
      <vt:lpstr>Privacy/IP issues/Data sensitivity</vt:lpstr>
      <vt:lpstr>Issues/Challenges in AI</vt:lpstr>
      <vt:lpstr>Issues/Challenges in AI</vt:lpstr>
      <vt:lpstr>Resources</vt:lpstr>
      <vt:lpstr>Questions 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Jain Rahul</dc:creator>
  <cp:lastModifiedBy>Dharshana Kasthurirathna</cp:lastModifiedBy>
  <cp:revision>1753</cp:revision>
  <cp:lastPrinted>2018-02-16T02:58:45Z</cp:lastPrinted>
  <dcterms:created xsi:type="dcterms:W3CDTF">2014-04-10T07:01:18Z</dcterms:created>
  <dcterms:modified xsi:type="dcterms:W3CDTF">2026-01-23T14:38:02Z</dcterms:modified>
</cp:coreProperties>
</file>